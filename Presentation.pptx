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nton" pitchFamily="2" charset="0"/>
      <p:regular r:id="rId16"/>
    </p:embeddedFont>
    <p:embeddedFont>
      <p:font typeface="Arimo Bold" panose="020B0604020202020204" charset="0"/>
      <p:regular r:id="rId17"/>
    </p:embeddedFont>
    <p:embeddedFont>
      <p:font typeface="Brittany" panose="020B0604020202020204" charset="0"/>
      <p:regular r:id="rId18"/>
    </p:embeddedFont>
    <p:embeddedFont>
      <p:font typeface="Canva Sans" panose="020B0604020202020204" charset="0"/>
      <p:regular r:id="rId19"/>
    </p:embeddedFont>
    <p:embeddedFont>
      <p:font typeface="Comic Sans" panose="020B0604020202020204" charset="0"/>
      <p:regular r:id="rId20"/>
    </p:embeddedFont>
    <p:embeddedFont>
      <p:font typeface="Comic Sans Bold" panose="020B0604020202020204" charset="0"/>
      <p:regular r:id="rId21"/>
    </p:embeddedFont>
    <p:embeddedFont>
      <p:font typeface="Lazydog" panose="020B0604020202020204" charset="0"/>
      <p:regular r:id="rId22"/>
    </p:embeddedFont>
    <p:embeddedFont>
      <p:font typeface="Rosario" panose="020B0604020202020204" charset="0"/>
      <p:regular r:id="rId23"/>
    </p:embeddedFont>
    <p:embeddedFont>
      <p:font typeface="Times New Roman Bold" panose="02020803070505020304" pitchFamily="18" charset="0"/>
      <p:regular r:id="rId24"/>
      <p:bold r:id="rId25"/>
    </p:embeddedFont>
    <p:embeddedFont>
      <p:font typeface="TT Rounds Condensed" panose="020B0604020202020204" charset="0"/>
      <p:regular r:id="rId26"/>
    </p:embeddedFont>
    <p:embeddedFont>
      <p:font typeface="TT Rounds Condensed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grpSp>
        <p:nvGrpSpPr>
          <p:cNvPr id="2" name="Group 2"/>
          <p:cNvGrpSpPr/>
          <p:nvPr/>
        </p:nvGrpSpPr>
        <p:grpSpPr>
          <a:xfrm>
            <a:off x="2257414" y="-27085"/>
            <a:ext cx="16030576" cy="1549668"/>
            <a:chOff x="0" y="0"/>
            <a:chExt cx="21374102" cy="2066224"/>
          </a:xfrm>
        </p:grpSpPr>
        <p:sp>
          <p:nvSpPr>
            <p:cNvPr id="3" name="Freeform 3"/>
            <p:cNvSpPr/>
            <p:nvPr/>
          </p:nvSpPr>
          <p:spPr>
            <a:xfrm>
              <a:off x="0" y="0"/>
              <a:ext cx="21374100" cy="2066163"/>
            </a:xfrm>
            <a:custGeom>
              <a:avLst/>
              <a:gdLst/>
              <a:ahLst/>
              <a:cxnLst/>
              <a:rect l="l" t="t" r="r" b="b"/>
              <a:pathLst>
                <a:path w="21374100" h="2066163">
                  <a:moveTo>
                    <a:pt x="0" y="0"/>
                  </a:moveTo>
                  <a:lnTo>
                    <a:pt x="21374100" y="0"/>
                  </a:lnTo>
                  <a:lnTo>
                    <a:pt x="21374100" y="2066163"/>
                  </a:lnTo>
                  <a:lnTo>
                    <a:pt x="0" y="2066163"/>
                  </a:lnTo>
                  <a:close/>
                </a:path>
              </a:pathLst>
            </a:custGeom>
            <a:solidFill>
              <a:srgbClr val="C00000"/>
            </a:solidFill>
          </p:spPr>
        </p:sp>
        <p:sp>
          <p:nvSpPr>
            <p:cNvPr id="4" name="TextBox 4"/>
            <p:cNvSpPr txBox="1"/>
            <p:nvPr/>
          </p:nvSpPr>
          <p:spPr>
            <a:xfrm>
              <a:off x="0" y="-123825"/>
              <a:ext cx="21374102" cy="2190049"/>
            </a:xfrm>
            <a:prstGeom prst="rect">
              <a:avLst/>
            </a:prstGeom>
          </p:spPr>
          <p:txBody>
            <a:bodyPr lIns="50800" tIns="50800" rIns="50800" bIns="50800" rtlCol="0" anchor="t"/>
            <a:lstStyle/>
            <a:p>
              <a:pPr algn="ctr">
                <a:lnSpc>
                  <a:spcPts val="7200"/>
                </a:lnSpc>
              </a:pPr>
              <a:r>
                <a:rPr lang="en-US" sz="6000" b="1">
                  <a:solidFill>
                    <a:srgbClr val="FFFFFF"/>
                  </a:solidFill>
                  <a:latin typeface="Times New Roman Bold"/>
                  <a:ea typeface="Times New Roman Bold"/>
                  <a:cs typeface="Times New Roman Bold"/>
                  <a:sym typeface="Times New Roman Bold"/>
                </a:rPr>
                <a:t>Mini Project (BCS- 351)                                 </a:t>
              </a:r>
            </a:p>
          </p:txBody>
        </p:sp>
      </p:grpSp>
      <p:grpSp>
        <p:nvGrpSpPr>
          <p:cNvPr id="5" name="Group 5"/>
          <p:cNvGrpSpPr/>
          <p:nvPr/>
        </p:nvGrpSpPr>
        <p:grpSpPr>
          <a:xfrm>
            <a:off x="-19050" y="9654193"/>
            <a:ext cx="18287996" cy="602673"/>
            <a:chOff x="0" y="0"/>
            <a:chExt cx="24383994" cy="803564"/>
          </a:xfrm>
        </p:grpSpPr>
        <p:sp>
          <p:nvSpPr>
            <p:cNvPr id="6" name="Freeform 6"/>
            <p:cNvSpPr/>
            <p:nvPr/>
          </p:nvSpPr>
          <p:spPr>
            <a:xfrm>
              <a:off x="0" y="0"/>
              <a:ext cx="24384000" cy="803529"/>
            </a:xfrm>
            <a:custGeom>
              <a:avLst/>
              <a:gdLst/>
              <a:ahLst/>
              <a:cxnLst/>
              <a:rect l="l" t="t" r="r" b="b"/>
              <a:pathLst>
                <a:path w="24384000" h="803529">
                  <a:moveTo>
                    <a:pt x="0" y="0"/>
                  </a:moveTo>
                  <a:lnTo>
                    <a:pt x="24384000" y="0"/>
                  </a:lnTo>
                  <a:lnTo>
                    <a:pt x="24384000" y="803529"/>
                  </a:lnTo>
                  <a:lnTo>
                    <a:pt x="0" y="803529"/>
                  </a:lnTo>
                  <a:close/>
                </a:path>
              </a:pathLst>
            </a:custGeom>
            <a:solidFill>
              <a:srgbClr val="C00000"/>
            </a:solidFill>
          </p:spPr>
        </p:sp>
        <p:sp>
          <p:nvSpPr>
            <p:cNvPr id="7" name="TextBox 7"/>
            <p:cNvSpPr txBox="1"/>
            <p:nvPr/>
          </p:nvSpPr>
          <p:spPr>
            <a:xfrm>
              <a:off x="0" y="47625"/>
              <a:ext cx="24383994" cy="75593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TextBox 8"/>
          <p:cNvSpPr txBox="1"/>
          <p:nvPr/>
        </p:nvSpPr>
        <p:spPr>
          <a:xfrm>
            <a:off x="1737355" y="1526040"/>
            <a:ext cx="14813280" cy="8063105"/>
          </a:xfrm>
          <a:prstGeom prst="rect">
            <a:avLst/>
          </a:prstGeom>
        </p:spPr>
        <p:txBody>
          <a:bodyPr lIns="0" tIns="0" rIns="0" bIns="0" rtlCol="0" anchor="t">
            <a:spAutoFit/>
          </a:bodyPr>
          <a:lstStyle/>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Mini Project Presentation </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On</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PDF TO AUDIOBOOK CONVERTER</a:t>
            </a:r>
          </a:p>
          <a:p>
            <a:pPr algn="ctr">
              <a:lnSpc>
                <a:spcPts val="3960"/>
              </a:lnSpc>
            </a:pPr>
            <a:endParaRPr lang="en-US" sz="3300" b="1" spc="30" dirty="0">
              <a:solidFill>
                <a:srgbClr val="000000"/>
              </a:solidFill>
              <a:latin typeface="TT Rounds Condensed Bold"/>
              <a:ea typeface="TT Rounds Condensed Bold"/>
              <a:cs typeface="TT Rounds Condensed Bold"/>
              <a:sym typeface="TT Rounds Condensed Bold"/>
            </a:endParaRP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Submitted by</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Ashwani Singh </a:t>
            </a:r>
            <a:r>
              <a:rPr lang="en-US" sz="3300" b="1" spc="30" dirty="0" err="1">
                <a:solidFill>
                  <a:srgbClr val="000000"/>
                </a:solidFill>
                <a:latin typeface="TT Rounds Condensed Bold"/>
                <a:ea typeface="TT Rounds Condensed Bold"/>
                <a:cs typeface="TT Rounds Condensed Bold"/>
                <a:sym typeface="TT Rounds Condensed Bold"/>
              </a:rPr>
              <a:t>Bhadauriya</a:t>
            </a:r>
            <a:r>
              <a:rPr lang="en-US" sz="3300" b="1" spc="30" dirty="0">
                <a:solidFill>
                  <a:srgbClr val="000000"/>
                </a:solidFill>
                <a:latin typeface="TT Rounds Condensed Bold"/>
                <a:ea typeface="TT Rounds Condensed Bold"/>
                <a:cs typeface="TT Rounds Condensed Bold"/>
                <a:sym typeface="TT Rounds Condensed Bold"/>
              </a:rPr>
              <a:t> - 2300971640023 </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Akash Kumar - 2300971640010 </a:t>
            </a:r>
          </a:p>
          <a:p>
            <a:pPr algn="ctr">
              <a:lnSpc>
                <a:spcPts val="3960"/>
              </a:lnSpc>
            </a:pPr>
            <a:r>
              <a:rPr lang="en-US" sz="3300" b="1" spc="30" dirty="0" err="1">
                <a:solidFill>
                  <a:srgbClr val="000000"/>
                </a:solidFill>
                <a:latin typeface="TT Rounds Condensed Bold"/>
                <a:ea typeface="TT Rounds Condensed Bold"/>
                <a:cs typeface="TT Rounds Condensed Bold"/>
                <a:sym typeface="TT Rounds Condensed Bold"/>
              </a:rPr>
              <a:t>Vatsal</a:t>
            </a:r>
            <a:r>
              <a:rPr lang="en-US" sz="3300" b="1" spc="30" dirty="0">
                <a:solidFill>
                  <a:srgbClr val="000000"/>
                </a:solidFill>
                <a:latin typeface="TT Rounds Condensed Bold"/>
                <a:ea typeface="TT Rounds Condensed Bold"/>
                <a:cs typeface="TT Rounds Condensed Bold"/>
                <a:sym typeface="TT Rounds Condensed Bold"/>
              </a:rPr>
              <a:t> </a:t>
            </a:r>
            <a:r>
              <a:rPr lang="en-US" sz="3300" b="1" spc="30" dirty="0" err="1">
                <a:solidFill>
                  <a:srgbClr val="000000"/>
                </a:solidFill>
                <a:latin typeface="TT Rounds Condensed Bold"/>
                <a:ea typeface="TT Rounds Condensed Bold"/>
                <a:cs typeface="TT Rounds Condensed Bold"/>
                <a:sym typeface="TT Rounds Condensed Bold"/>
              </a:rPr>
              <a:t>Porwal</a:t>
            </a:r>
            <a:r>
              <a:rPr lang="en-US" sz="3300" b="1" spc="30" dirty="0">
                <a:solidFill>
                  <a:srgbClr val="000000"/>
                </a:solidFill>
                <a:latin typeface="TT Rounds Condensed Bold"/>
                <a:ea typeface="TT Rounds Condensed Bold"/>
                <a:cs typeface="TT Rounds Condensed Bold"/>
                <a:sym typeface="TT Rounds Condensed Bold"/>
              </a:rPr>
              <a:t> - 2300971640070  </a:t>
            </a:r>
          </a:p>
          <a:p>
            <a:pPr algn="ctr">
              <a:lnSpc>
                <a:spcPts val="3960"/>
              </a:lnSpc>
            </a:pPr>
            <a:r>
              <a:rPr lang="en-US" sz="3300" spc="30" dirty="0">
                <a:solidFill>
                  <a:srgbClr val="000000"/>
                </a:solidFill>
                <a:latin typeface="TT Rounds Condensed"/>
                <a:ea typeface="TT Rounds Condensed"/>
                <a:cs typeface="TT Rounds Condensed"/>
                <a:sym typeface="TT Rounds Condensed"/>
              </a:rPr>
              <a:t> </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Under the Supervision</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of</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Dr. Narendra Kumar</a:t>
            </a:r>
          </a:p>
          <a:p>
            <a:pPr algn="ctr">
              <a:lnSpc>
                <a:spcPts val="3960"/>
              </a:lnSpc>
            </a:pPr>
            <a:r>
              <a:rPr lang="en-US" sz="3300" b="1" spc="30" dirty="0">
                <a:solidFill>
                  <a:srgbClr val="000000"/>
                </a:solidFill>
                <a:latin typeface="TT Rounds Condensed Bold"/>
                <a:ea typeface="TT Rounds Condensed Bold"/>
                <a:cs typeface="TT Rounds Condensed Bold"/>
                <a:sym typeface="TT Rounds Condensed Bold"/>
              </a:rPr>
              <a:t>( Professor)</a:t>
            </a:r>
          </a:p>
          <a:p>
            <a:pPr algn="ctr">
              <a:lnSpc>
                <a:spcPts val="3960"/>
              </a:lnSpc>
            </a:pPr>
            <a:r>
              <a:rPr lang="en-US" sz="3300" b="1" spc="30" dirty="0" err="1">
                <a:solidFill>
                  <a:srgbClr val="000000"/>
                </a:solidFill>
                <a:latin typeface="TT Rounds Condensed Bold"/>
                <a:ea typeface="TT Rounds Condensed Bold"/>
                <a:cs typeface="TT Rounds Condensed Bold"/>
                <a:sym typeface="TT Rounds Condensed Bold"/>
              </a:rPr>
              <a:t>Galgotias</a:t>
            </a:r>
            <a:r>
              <a:rPr lang="en-US" sz="3300" b="1" spc="30" dirty="0">
                <a:solidFill>
                  <a:srgbClr val="000000"/>
                </a:solidFill>
                <a:latin typeface="TT Rounds Condensed Bold"/>
                <a:ea typeface="TT Rounds Condensed Bold"/>
                <a:cs typeface="TT Rounds Condensed Bold"/>
                <a:sym typeface="TT Rounds Condensed Bold"/>
              </a:rPr>
              <a:t> College of Engineering &amp; Technology</a:t>
            </a:r>
          </a:p>
          <a:p>
            <a:pPr algn="ctr">
              <a:lnSpc>
                <a:spcPts val="3240"/>
              </a:lnSpc>
            </a:pPr>
            <a:r>
              <a:rPr lang="en-US" sz="2700" b="1" spc="25" dirty="0">
                <a:solidFill>
                  <a:srgbClr val="000000"/>
                </a:solidFill>
                <a:latin typeface="TT Rounds Condensed Bold"/>
                <a:ea typeface="TT Rounds Condensed Bold"/>
                <a:cs typeface="TT Rounds Condensed Bold"/>
                <a:sym typeface="TT Rounds Condensed Bold"/>
              </a:rPr>
              <a:t>  Greater Noida, Uttar Pradesh</a:t>
            </a:r>
          </a:p>
          <a:p>
            <a:pPr algn="ctr">
              <a:lnSpc>
                <a:spcPts val="3960"/>
              </a:lnSpc>
            </a:pPr>
            <a:endParaRPr lang="en-US" sz="2700" b="1" spc="25" dirty="0">
              <a:solidFill>
                <a:srgbClr val="000000"/>
              </a:solidFill>
              <a:latin typeface="TT Rounds Condensed Bold"/>
              <a:ea typeface="TT Rounds Condensed Bold"/>
              <a:cs typeface="TT Rounds Condensed Bold"/>
              <a:sym typeface="TT Rounds Condensed Bold"/>
            </a:endParaRPr>
          </a:p>
        </p:txBody>
      </p:sp>
      <p:sp>
        <p:nvSpPr>
          <p:cNvPr id="9" name="Freeform 9" descr="https://galgotiacollege.edu/public/uploads/all/3106/phelosophy.jpeg"/>
          <p:cNvSpPr/>
          <p:nvPr/>
        </p:nvSpPr>
        <p:spPr>
          <a:xfrm>
            <a:off x="0" y="-24680"/>
            <a:ext cx="2257424" cy="1549668"/>
          </a:xfrm>
          <a:custGeom>
            <a:avLst/>
            <a:gdLst/>
            <a:ahLst/>
            <a:cxnLst/>
            <a:rect l="l" t="t" r="r" b="b"/>
            <a:pathLst>
              <a:path w="2257424" h="1549668">
                <a:moveTo>
                  <a:pt x="0" y="0"/>
                </a:moveTo>
                <a:lnTo>
                  <a:pt x="2257424" y="0"/>
                </a:lnTo>
                <a:lnTo>
                  <a:pt x="2257424" y="1549668"/>
                </a:lnTo>
                <a:lnTo>
                  <a:pt x="0" y="1549668"/>
                </a:lnTo>
                <a:lnTo>
                  <a:pt x="0" y="0"/>
                </a:lnTo>
                <a:close/>
              </a:path>
            </a:pathLst>
          </a:custGeom>
          <a:blipFill>
            <a:blip r:embed="rId2"/>
            <a:stretch>
              <a:fillRect b="-44928"/>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924299" y="-170689"/>
            <a:ext cx="16363692" cy="1988358"/>
            <a:chOff x="0" y="0"/>
            <a:chExt cx="21571831" cy="2621201"/>
          </a:xfrm>
        </p:grpSpPr>
        <p:sp>
          <p:nvSpPr>
            <p:cNvPr id="3" name="Freeform 3"/>
            <p:cNvSpPr/>
            <p:nvPr/>
          </p:nvSpPr>
          <p:spPr>
            <a:xfrm>
              <a:off x="0" y="0"/>
              <a:ext cx="21571829" cy="2621123"/>
            </a:xfrm>
            <a:custGeom>
              <a:avLst/>
              <a:gdLst/>
              <a:ahLst/>
              <a:cxnLst/>
              <a:rect l="l" t="t" r="r" b="b"/>
              <a:pathLst>
                <a:path w="21571829" h="2621123">
                  <a:moveTo>
                    <a:pt x="0" y="0"/>
                  </a:moveTo>
                  <a:lnTo>
                    <a:pt x="21571829" y="0"/>
                  </a:lnTo>
                  <a:lnTo>
                    <a:pt x="21571829" y="2621123"/>
                  </a:lnTo>
                  <a:lnTo>
                    <a:pt x="0" y="2621123"/>
                  </a:lnTo>
                  <a:close/>
                </a:path>
              </a:pathLst>
            </a:custGeom>
            <a:solidFill>
              <a:srgbClr val="C00000"/>
            </a:solidFill>
          </p:spPr>
        </p:sp>
      </p:grpSp>
      <p:grpSp>
        <p:nvGrpSpPr>
          <p:cNvPr id="4" name="Group 4"/>
          <p:cNvGrpSpPr/>
          <p:nvPr/>
        </p:nvGrpSpPr>
        <p:grpSpPr>
          <a:xfrm>
            <a:off x="-19050" y="9402508"/>
            <a:ext cx="18287996" cy="1768983"/>
            <a:chOff x="0" y="0"/>
            <a:chExt cx="24383994" cy="2358644"/>
          </a:xfrm>
        </p:grpSpPr>
        <p:sp>
          <p:nvSpPr>
            <p:cNvPr id="5" name="Freeform 5"/>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6" name="TextBox 6"/>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7" name="Freeform 7" descr="https://galgotiacollege.edu/public/uploads/all/3106/phelosophy.jpeg"/>
          <p:cNvSpPr/>
          <p:nvPr/>
        </p:nvSpPr>
        <p:spPr>
          <a:xfrm>
            <a:off x="0" y="-24679"/>
            <a:ext cx="1924299" cy="1842349"/>
          </a:xfrm>
          <a:custGeom>
            <a:avLst/>
            <a:gdLst/>
            <a:ahLst/>
            <a:cxnLst/>
            <a:rect l="l" t="t" r="r" b="b"/>
            <a:pathLst>
              <a:path w="1924299" h="1842349">
                <a:moveTo>
                  <a:pt x="0" y="0"/>
                </a:moveTo>
                <a:lnTo>
                  <a:pt x="1924299" y="0"/>
                </a:lnTo>
                <a:lnTo>
                  <a:pt x="1924299" y="1842348"/>
                </a:lnTo>
                <a:lnTo>
                  <a:pt x="0" y="1842348"/>
                </a:lnTo>
                <a:lnTo>
                  <a:pt x="0" y="0"/>
                </a:lnTo>
                <a:close/>
              </a:path>
            </a:pathLst>
          </a:custGeom>
          <a:blipFill>
            <a:blip r:embed="rId2"/>
            <a:stretch>
              <a:fillRect b="-3915"/>
            </a:stretch>
          </a:blipFill>
        </p:spPr>
      </p:sp>
      <p:sp>
        <p:nvSpPr>
          <p:cNvPr id="8" name="TextBox 8"/>
          <p:cNvSpPr txBox="1"/>
          <p:nvPr/>
        </p:nvSpPr>
        <p:spPr>
          <a:xfrm>
            <a:off x="514350" y="1784652"/>
            <a:ext cx="17259300" cy="3790316"/>
          </a:xfrm>
          <a:prstGeom prst="rect">
            <a:avLst/>
          </a:prstGeom>
        </p:spPr>
        <p:txBody>
          <a:bodyPr lIns="0" tIns="0" rIns="0" bIns="0" rtlCol="0" anchor="t">
            <a:spAutoFit/>
          </a:bodyPr>
          <a:lstStyle/>
          <a:p>
            <a:pPr algn="ctr">
              <a:lnSpc>
                <a:spcPts val="27859"/>
              </a:lnSpc>
            </a:pPr>
            <a:r>
              <a:rPr lang="en-US" sz="19899">
                <a:solidFill>
                  <a:srgbClr val="E6E8DA"/>
                </a:solidFill>
                <a:latin typeface="Anton"/>
                <a:ea typeface="Anton"/>
                <a:cs typeface="Anton"/>
                <a:sym typeface="Anton"/>
              </a:rPr>
              <a:t>PDF TO AUDIOBOOK</a:t>
            </a:r>
          </a:p>
        </p:txBody>
      </p:sp>
      <p:sp>
        <p:nvSpPr>
          <p:cNvPr id="9" name="TextBox 9"/>
          <p:cNvSpPr txBox="1"/>
          <p:nvPr/>
        </p:nvSpPr>
        <p:spPr>
          <a:xfrm>
            <a:off x="3711877" y="4738486"/>
            <a:ext cx="10826141" cy="3127629"/>
          </a:xfrm>
          <a:prstGeom prst="rect">
            <a:avLst/>
          </a:prstGeom>
        </p:spPr>
        <p:txBody>
          <a:bodyPr lIns="0" tIns="0" rIns="0" bIns="0" rtlCol="0" anchor="t">
            <a:spAutoFit/>
          </a:bodyPr>
          <a:lstStyle/>
          <a:p>
            <a:pPr algn="ctr">
              <a:lnSpc>
                <a:spcPts val="25535"/>
              </a:lnSpc>
            </a:pPr>
            <a:r>
              <a:rPr lang="en-US" sz="18239">
                <a:solidFill>
                  <a:srgbClr val="FF3D00"/>
                </a:solidFill>
                <a:latin typeface="Brittany"/>
                <a:ea typeface="Brittany"/>
                <a:cs typeface="Brittany"/>
                <a:sym typeface="Brittany"/>
              </a:rPr>
              <a:t>Converter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grpSp>
        <p:nvGrpSpPr>
          <p:cNvPr id="2" name="Group 2"/>
          <p:cNvGrpSpPr/>
          <p:nvPr/>
        </p:nvGrpSpPr>
        <p:grpSpPr>
          <a:xfrm>
            <a:off x="2014801" y="-253971"/>
            <a:ext cx="16273199" cy="2113407"/>
            <a:chOff x="0" y="0"/>
            <a:chExt cx="21697599" cy="2817876"/>
          </a:xfrm>
        </p:grpSpPr>
        <p:sp>
          <p:nvSpPr>
            <p:cNvPr id="3" name="Freeform 3"/>
            <p:cNvSpPr/>
            <p:nvPr/>
          </p:nvSpPr>
          <p:spPr>
            <a:xfrm>
              <a:off x="0" y="0"/>
              <a:ext cx="21697597" cy="2817793"/>
            </a:xfrm>
            <a:custGeom>
              <a:avLst/>
              <a:gdLst/>
              <a:ahLst/>
              <a:cxnLst/>
              <a:rect l="l" t="t" r="r" b="b"/>
              <a:pathLst>
                <a:path w="21697597" h="2817793">
                  <a:moveTo>
                    <a:pt x="0" y="0"/>
                  </a:moveTo>
                  <a:lnTo>
                    <a:pt x="21697597" y="0"/>
                  </a:lnTo>
                  <a:lnTo>
                    <a:pt x="21697597" y="2817793"/>
                  </a:lnTo>
                  <a:lnTo>
                    <a:pt x="0" y="2817793"/>
                  </a:lnTo>
                  <a:close/>
                </a:path>
              </a:pathLst>
            </a:custGeom>
            <a:solidFill>
              <a:srgbClr val="C00000"/>
            </a:solidFill>
          </p:spPr>
        </p:sp>
        <p:sp>
          <p:nvSpPr>
            <p:cNvPr id="4" name="TextBox 4"/>
            <p:cNvSpPr txBox="1"/>
            <p:nvPr/>
          </p:nvSpPr>
          <p:spPr>
            <a:xfrm>
              <a:off x="0" y="0"/>
              <a:ext cx="21697599" cy="2817876"/>
            </a:xfrm>
            <a:prstGeom prst="rect">
              <a:avLst/>
            </a:prstGeom>
          </p:spPr>
          <p:txBody>
            <a:bodyPr lIns="50800" tIns="50800" rIns="50800" bIns="50800" rtlCol="0" anchor="t"/>
            <a:lstStyle/>
            <a:p>
              <a:pPr algn="ctr">
                <a:lnSpc>
                  <a:spcPts val="7200"/>
                </a:lnSpc>
              </a:pPr>
              <a:endParaRP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0"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Freeform 8" descr="https://galgotiacollege.edu/public/uploads/all/3106/phelosophy.jpeg"/>
          <p:cNvSpPr/>
          <p:nvPr/>
        </p:nvSpPr>
        <p:spPr>
          <a:xfrm>
            <a:off x="0" y="-24680"/>
            <a:ext cx="2014801" cy="1884116"/>
          </a:xfrm>
          <a:custGeom>
            <a:avLst/>
            <a:gdLst/>
            <a:ahLst/>
            <a:cxnLst/>
            <a:rect l="l" t="t" r="r" b="b"/>
            <a:pathLst>
              <a:path w="2014801" h="1884116">
                <a:moveTo>
                  <a:pt x="0" y="0"/>
                </a:moveTo>
                <a:lnTo>
                  <a:pt x="2014801" y="0"/>
                </a:lnTo>
                <a:lnTo>
                  <a:pt x="2014801" y="1884116"/>
                </a:lnTo>
                <a:lnTo>
                  <a:pt x="0" y="1884116"/>
                </a:lnTo>
                <a:lnTo>
                  <a:pt x="0" y="0"/>
                </a:lnTo>
                <a:close/>
              </a:path>
            </a:pathLst>
          </a:custGeom>
          <a:blipFill>
            <a:blip r:embed="rId2"/>
            <a:stretch>
              <a:fillRect b="-6391"/>
            </a:stretch>
          </a:blipFill>
        </p:spPr>
      </p:sp>
      <p:sp>
        <p:nvSpPr>
          <p:cNvPr id="9" name="TextBox 9"/>
          <p:cNvSpPr txBox="1"/>
          <p:nvPr/>
        </p:nvSpPr>
        <p:spPr>
          <a:xfrm>
            <a:off x="514350" y="1392711"/>
            <a:ext cx="17259300" cy="4655088"/>
          </a:xfrm>
          <a:prstGeom prst="rect">
            <a:avLst/>
          </a:prstGeom>
        </p:spPr>
        <p:txBody>
          <a:bodyPr lIns="0" tIns="0" rIns="0" bIns="0" rtlCol="0" anchor="t">
            <a:spAutoFit/>
          </a:bodyPr>
          <a:lstStyle/>
          <a:p>
            <a:pPr algn="ctr">
              <a:lnSpc>
                <a:spcPts val="34270"/>
              </a:lnSpc>
            </a:pPr>
            <a:r>
              <a:rPr lang="en-US" sz="24478">
                <a:solidFill>
                  <a:srgbClr val="000000"/>
                </a:solidFill>
                <a:latin typeface="Anton"/>
                <a:ea typeface="Anton"/>
                <a:cs typeface="Anton"/>
                <a:sym typeface="Anton"/>
              </a:rPr>
              <a:t>WHAT WE ARE?</a:t>
            </a:r>
          </a:p>
        </p:txBody>
      </p:sp>
      <p:sp>
        <p:nvSpPr>
          <p:cNvPr id="10" name="Freeform 10"/>
          <p:cNvSpPr/>
          <p:nvPr/>
        </p:nvSpPr>
        <p:spPr>
          <a:xfrm rot="-5522004">
            <a:off x="11138214" y="-418046"/>
            <a:ext cx="4463682" cy="7624911"/>
          </a:xfrm>
          <a:custGeom>
            <a:avLst/>
            <a:gdLst/>
            <a:ahLst/>
            <a:cxnLst/>
            <a:rect l="l" t="t" r="r" b="b"/>
            <a:pathLst>
              <a:path w="4463682" h="7624911">
                <a:moveTo>
                  <a:pt x="0" y="0"/>
                </a:moveTo>
                <a:lnTo>
                  <a:pt x="4463682" y="0"/>
                </a:lnTo>
                <a:lnTo>
                  <a:pt x="4463682" y="7624911"/>
                </a:lnTo>
                <a:lnTo>
                  <a:pt x="0" y="7624911"/>
                </a:lnTo>
                <a:lnTo>
                  <a:pt x="0" y="0"/>
                </a:lnTo>
                <a:close/>
              </a:path>
            </a:pathLst>
          </a:custGeom>
          <a:blipFill>
            <a:blip r:embed="rId3">
              <a:extLst>
                <a:ext uri="{96DAC541-7B7A-43D3-8B79-37D633B846F1}">
                  <asvg:svgBlip xmlns:asvg="http://schemas.microsoft.com/office/drawing/2016/SVG/main" r:embed="rId4"/>
                </a:ext>
              </a:extLst>
            </a:blip>
            <a:stretch>
              <a:fillRect l="-9" r="-9"/>
            </a:stretch>
          </a:blipFill>
        </p:spPr>
      </p:sp>
      <p:sp>
        <p:nvSpPr>
          <p:cNvPr id="11" name="TextBox 11"/>
          <p:cNvSpPr txBox="1"/>
          <p:nvPr/>
        </p:nvSpPr>
        <p:spPr>
          <a:xfrm>
            <a:off x="828058" y="5413642"/>
            <a:ext cx="16631885" cy="3844658"/>
          </a:xfrm>
          <a:prstGeom prst="rect">
            <a:avLst/>
          </a:prstGeom>
        </p:spPr>
        <p:txBody>
          <a:bodyPr lIns="0" tIns="0" rIns="0" bIns="0" rtlCol="0" anchor="t">
            <a:spAutoFit/>
          </a:bodyPr>
          <a:lstStyle/>
          <a:p>
            <a:pPr algn="ctr">
              <a:lnSpc>
                <a:spcPts val="4328"/>
              </a:lnSpc>
            </a:pPr>
            <a:r>
              <a:rPr lang="en-US" sz="3091">
                <a:solidFill>
                  <a:srgbClr val="000000"/>
                </a:solidFill>
                <a:latin typeface="Canva Sans"/>
                <a:ea typeface="Canva Sans"/>
                <a:cs typeface="Canva Sans"/>
                <a:sym typeface="Canva Sans"/>
              </a:rPr>
              <a:t>Welcome to PDF to Audiobook Converter, your go-to website for turning your digital documents into engaging audio experiences. Whether you're on the go, multitasking, or just prefer listening, our easy-to-use platform helps you convert PDFs into high-quality audiobooks in just a few clicks. Simply upload your file and let our advanced AI-driven engine handle the rest. Enhance your learning, leisure, or productivity with audio versions of your favourite documents. Accessible, efficient, and designed with you in mind-unlock the power of audio today!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014024" y="-254706"/>
            <a:ext cx="16273976" cy="2113407"/>
            <a:chOff x="0" y="0"/>
            <a:chExt cx="21698634" cy="2817876"/>
          </a:xfrm>
        </p:grpSpPr>
        <p:sp>
          <p:nvSpPr>
            <p:cNvPr id="3" name="Freeform 3"/>
            <p:cNvSpPr/>
            <p:nvPr/>
          </p:nvSpPr>
          <p:spPr>
            <a:xfrm>
              <a:off x="0" y="0"/>
              <a:ext cx="21698632" cy="2817793"/>
            </a:xfrm>
            <a:custGeom>
              <a:avLst/>
              <a:gdLst/>
              <a:ahLst/>
              <a:cxnLst/>
              <a:rect l="l" t="t" r="r" b="b"/>
              <a:pathLst>
                <a:path w="21698632" h="2817793">
                  <a:moveTo>
                    <a:pt x="0" y="0"/>
                  </a:moveTo>
                  <a:lnTo>
                    <a:pt x="21698632" y="0"/>
                  </a:lnTo>
                  <a:lnTo>
                    <a:pt x="21698632" y="2817793"/>
                  </a:lnTo>
                  <a:lnTo>
                    <a:pt x="0" y="2817793"/>
                  </a:lnTo>
                  <a:close/>
                </a:path>
              </a:pathLst>
            </a:custGeom>
            <a:solidFill>
              <a:srgbClr val="C00000"/>
            </a:solidFill>
          </p:spPr>
        </p:sp>
        <p:sp>
          <p:nvSpPr>
            <p:cNvPr id="4" name="TextBox 4"/>
            <p:cNvSpPr txBox="1"/>
            <p:nvPr/>
          </p:nvSpPr>
          <p:spPr>
            <a:xfrm>
              <a:off x="0" y="0"/>
              <a:ext cx="21698634" cy="2817876"/>
            </a:xfrm>
            <a:prstGeom prst="rect">
              <a:avLst/>
            </a:prstGeom>
          </p:spPr>
          <p:txBody>
            <a:bodyPr lIns="50800" tIns="50800" rIns="50800" bIns="50800" rtlCol="0" anchor="t"/>
            <a:lstStyle/>
            <a:p>
              <a:pPr algn="ctr">
                <a:lnSpc>
                  <a:spcPts val="7200"/>
                </a:lnSpc>
              </a:pPr>
              <a:endParaRP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0"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Freeform 8" descr="https://galgotiacollege.edu/public/uploads/all/3106/phelosophy.jpeg"/>
          <p:cNvSpPr/>
          <p:nvPr/>
        </p:nvSpPr>
        <p:spPr>
          <a:xfrm>
            <a:off x="0" y="-24680"/>
            <a:ext cx="2029613" cy="1897967"/>
          </a:xfrm>
          <a:custGeom>
            <a:avLst/>
            <a:gdLst/>
            <a:ahLst/>
            <a:cxnLst/>
            <a:rect l="l" t="t" r="r" b="b"/>
            <a:pathLst>
              <a:path w="2029613" h="1897967">
                <a:moveTo>
                  <a:pt x="0" y="0"/>
                </a:moveTo>
                <a:lnTo>
                  <a:pt x="2029613" y="0"/>
                </a:lnTo>
                <a:lnTo>
                  <a:pt x="2029613" y="1897968"/>
                </a:lnTo>
                <a:lnTo>
                  <a:pt x="0" y="1897968"/>
                </a:lnTo>
                <a:lnTo>
                  <a:pt x="0" y="0"/>
                </a:lnTo>
                <a:close/>
              </a:path>
            </a:pathLst>
          </a:custGeom>
          <a:blipFill>
            <a:blip r:embed="rId2"/>
            <a:stretch>
              <a:fillRect b="-6391"/>
            </a:stretch>
          </a:blipFill>
        </p:spPr>
      </p:sp>
      <p:sp>
        <p:nvSpPr>
          <p:cNvPr id="9" name="TextBox 9"/>
          <p:cNvSpPr txBox="1"/>
          <p:nvPr/>
        </p:nvSpPr>
        <p:spPr>
          <a:xfrm>
            <a:off x="755065" y="5991464"/>
            <a:ext cx="8388933" cy="3096375"/>
          </a:xfrm>
          <a:prstGeom prst="rect">
            <a:avLst/>
          </a:prstGeom>
        </p:spPr>
        <p:txBody>
          <a:bodyPr lIns="0" tIns="0" rIns="0" bIns="0" rtlCol="0" anchor="t">
            <a:spAutoFit/>
          </a:bodyPr>
          <a:lstStyle/>
          <a:p>
            <a:pPr algn="just">
              <a:lnSpc>
                <a:spcPts val="4131"/>
              </a:lnSpc>
            </a:pPr>
            <a:r>
              <a:rPr lang="en-US" sz="2950">
                <a:solidFill>
                  <a:srgbClr val="E6E8DA"/>
                </a:solidFill>
                <a:latin typeface="Canva Sans"/>
                <a:ea typeface="Canva Sans"/>
                <a:cs typeface="Canva Sans"/>
                <a:sym typeface="Canva Sans"/>
              </a:rPr>
              <a:t>Zamzar is an online file converter and compressor, created by brothers Mike and Chris Whyley in England in 2006. It allows users to convert files online, without downloading a software tool, and supports over 1,200 different conversion types.</a:t>
            </a:r>
          </a:p>
        </p:txBody>
      </p:sp>
      <p:sp>
        <p:nvSpPr>
          <p:cNvPr id="10" name="TextBox 10"/>
          <p:cNvSpPr txBox="1"/>
          <p:nvPr/>
        </p:nvSpPr>
        <p:spPr>
          <a:xfrm>
            <a:off x="783348" y="2134926"/>
            <a:ext cx="7164996" cy="4069562"/>
          </a:xfrm>
          <a:prstGeom prst="rect">
            <a:avLst/>
          </a:prstGeom>
        </p:spPr>
        <p:txBody>
          <a:bodyPr lIns="0" tIns="0" rIns="0" bIns="0" rtlCol="0" anchor="t">
            <a:spAutoFit/>
          </a:bodyPr>
          <a:lstStyle/>
          <a:p>
            <a:pPr algn="l">
              <a:lnSpc>
                <a:spcPts val="15639"/>
              </a:lnSpc>
            </a:pPr>
            <a:r>
              <a:rPr lang="en-US" sz="15484">
                <a:solidFill>
                  <a:srgbClr val="E6E8DA"/>
                </a:solidFill>
                <a:latin typeface="Anton"/>
                <a:ea typeface="Anton"/>
                <a:cs typeface="Anton"/>
                <a:sym typeface="Anton"/>
              </a:rPr>
              <a:t>EXISTING SERVICES</a:t>
            </a:r>
          </a:p>
        </p:txBody>
      </p:sp>
      <p:sp>
        <p:nvSpPr>
          <p:cNvPr id="11" name="Freeform 11"/>
          <p:cNvSpPr/>
          <p:nvPr/>
        </p:nvSpPr>
        <p:spPr>
          <a:xfrm>
            <a:off x="11627128" y="1858701"/>
            <a:ext cx="6660872" cy="7543807"/>
          </a:xfrm>
          <a:custGeom>
            <a:avLst/>
            <a:gdLst/>
            <a:ahLst/>
            <a:cxnLst/>
            <a:rect l="l" t="t" r="r" b="b"/>
            <a:pathLst>
              <a:path w="6660872" h="7543807">
                <a:moveTo>
                  <a:pt x="0" y="0"/>
                </a:moveTo>
                <a:lnTo>
                  <a:pt x="6660872" y="0"/>
                </a:lnTo>
                <a:lnTo>
                  <a:pt x="6660872" y="7543808"/>
                </a:lnTo>
                <a:lnTo>
                  <a:pt x="0" y="7543808"/>
                </a:lnTo>
                <a:lnTo>
                  <a:pt x="0" y="0"/>
                </a:lnTo>
                <a:close/>
              </a:path>
            </a:pathLst>
          </a:custGeom>
          <a:blipFill>
            <a:blip r:embed="rId3"/>
            <a:stretch>
              <a:fillRect l="-1363" t="-24690" b="-74198"/>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014016" y="-28003"/>
            <a:ext cx="16273984" cy="2113407"/>
            <a:chOff x="0" y="0"/>
            <a:chExt cx="21698646" cy="2817876"/>
          </a:xfrm>
        </p:grpSpPr>
        <p:sp>
          <p:nvSpPr>
            <p:cNvPr id="3" name="Freeform 3"/>
            <p:cNvSpPr/>
            <p:nvPr/>
          </p:nvSpPr>
          <p:spPr>
            <a:xfrm>
              <a:off x="0" y="0"/>
              <a:ext cx="21698645" cy="2817793"/>
            </a:xfrm>
            <a:custGeom>
              <a:avLst/>
              <a:gdLst/>
              <a:ahLst/>
              <a:cxnLst/>
              <a:rect l="l" t="t" r="r" b="b"/>
              <a:pathLst>
                <a:path w="21698645" h="2817793">
                  <a:moveTo>
                    <a:pt x="0" y="0"/>
                  </a:moveTo>
                  <a:lnTo>
                    <a:pt x="21698645" y="0"/>
                  </a:lnTo>
                  <a:lnTo>
                    <a:pt x="21698645" y="2817793"/>
                  </a:lnTo>
                  <a:lnTo>
                    <a:pt x="0" y="2817793"/>
                  </a:lnTo>
                  <a:close/>
                </a:path>
              </a:pathLst>
            </a:custGeom>
            <a:solidFill>
              <a:srgbClr val="C00000"/>
            </a:solidFill>
          </p:spPr>
        </p:sp>
        <p:sp>
          <p:nvSpPr>
            <p:cNvPr id="4" name="TextBox 4"/>
            <p:cNvSpPr txBox="1"/>
            <p:nvPr/>
          </p:nvSpPr>
          <p:spPr>
            <a:xfrm>
              <a:off x="0" y="0"/>
              <a:ext cx="21698646" cy="2817876"/>
            </a:xfrm>
            <a:prstGeom prst="rect">
              <a:avLst/>
            </a:prstGeom>
          </p:spPr>
          <p:txBody>
            <a:bodyPr lIns="50800" tIns="50800" rIns="50800" bIns="50800" rtlCol="0" anchor="t"/>
            <a:lstStyle/>
            <a:p>
              <a:pPr algn="ctr">
                <a:lnSpc>
                  <a:spcPts val="7200"/>
                </a:lnSpc>
              </a:pPr>
              <a:endParaRP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4"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Freeform 8" descr="https://galgotiacollege.edu/public/uploads/all/3106/phelosophy.jpeg"/>
          <p:cNvSpPr/>
          <p:nvPr/>
        </p:nvSpPr>
        <p:spPr>
          <a:xfrm>
            <a:off x="0" y="-24680"/>
            <a:ext cx="2291383" cy="2142767"/>
          </a:xfrm>
          <a:custGeom>
            <a:avLst/>
            <a:gdLst/>
            <a:ahLst/>
            <a:cxnLst/>
            <a:rect l="l" t="t" r="r" b="b"/>
            <a:pathLst>
              <a:path w="2291383" h="2142767">
                <a:moveTo>
                  <a:pt x="0" y="0"/>
                </a:moveTo>
                <a:lnTo>
                  <a:pt x="2291383" y="0"/>
                </a:lnTo>
                <a:lnTo>
                  <a:pt x="2291383" y="2142767"/>
                </a:lnTo>
                <a:lnTo>
                  <a:pt x="0" y="2142767"/>
                </a:lnTo>
                <a:lnTo>
                  <a:pt x="0" y="0"/>
                </a:lnTo>
                <a:close/>
              </a:path>
            </a:pathLst>
          </a:custGeom>
          <a:blipFill>
            <a:blip r:embed="rId2"/>
            <a:stretch>
              <a:fillRect b="-6390"/>
            </a:stretch>
          </a:blipFill>
        </p:spPr>
      </p:sp>
      <p:grpSp>
        <p:nvGrpSpPr>
          <p:cNvPr id="9" name="Group 9"/>
          <p:cNvGrpSpPr/>
          <p:nvPr/>
        </p:nvGrpSpPr>
        <p:grpSpPr>
          <a:xfrm>
            <a:off x="581945" y="2514931"/>
            <a:ext cx="4897363" cy="6514914"/>
            <a:chOff x="0" y="0"/>
            <a:chExt cx="7414263" cy="9863121"/>
          </a:xfrm>
        </p:grpSpPr>
        <p:sp>
          <p:nvSpPr>
            <p:cNvPr id="10" name="Freeform 10"/>
            <p:cNvSpPr/>
            <p:nvPr/>
          </p:nvSpPr>
          <p:spPr>
            <a:xfrm>
              <a:off x="0" y="0"/>
              <a:ext cx="7414260" cy="9863074"/>
            </a:xfrm>
            <a:custGeom>
              <a:avLst/>
              <a:gdLst/>
              <a:ahLst/>
              <a:cxnLst/>
              <a:rect l="l" t="t" r="r" b="b"/>
              <a:pathLst>
                <a:path w="7414260" h="9863074">
                  <a:moveTo>
                    <a:pt x="359410" y="0"/>
                  </a:moveTo>
                  <a:lnTo>
                    <a:pt x="7054850" y="0"/>
                  </a:lnTo>
                  <a:cubicBezTo>
                    <a:pt x="7253351" y="0"/>
                    <a:pt x="7414260" y="160909"/>
                    <a:pt x="7414260" y="359410"/>
                  </a:cubicBezTo>
                  <a:lnTo>
                    <a:pt x="7414260" y="9503664"/>
                  </a:lnTo>
                  <a:cubicBezTo>
                    <a:pt x="7414260" y="9702165"/>
                    <a:pt x="7253351" y="9863074"/>
                    <a:pt x="7054850" y="9863074"/>
                  </a:cubicBezTo>
                  <a:lnTo>
                    <a:pt x="359410" y="9863074"/>
                  </a:lnTo>
                  <a:cubicBezTo>
                    <a:pt x="160909" y="9863074"/>
                    <a:pt x="0" y="9702165"/>
                    <a:pt x="0" y="9503664"/>
                  </a:cubicBezTo>
                  <a:lnTo>
                    <a:pt x="0" y="359410"/>
                  </a:lnTo>
                  <a:cubicBezTo>
                    <a:pt x="0" y="160909"/>
                    <a:pt x="160909" y="0"/>
                    <a:pt x="359410" y="0"/>
                  </a:cubicBezTo>
                  <a:close/>
                </a:path>
              </a:pathLst>
            </a:custGeom>
            <a:solidFill>
              <a:srgbClr val="FFFFFF"/>
            </a:solidFill>
          </p:spPr>
        </p:sp>
      </p:grpSp>
      <p:sp>
        <p:nvSpPr>
          <p:cNvPr id="11" name="TextBox 11"/>
          <p:cNvSpPr txBox="1"/>
          <p:nvPr/>
        </p:nvSpPr>
        <p:spPr>
          <a:xfrm>
            <a:off x="3256673" y="19088"/>
            <a:ext cx="11885191" cy="2066315"/>
          </a:xfrm>
          <a:prstGeom prst="rect">
            <a:avLst/>
          </a:prstGeom>
        </p:spPr>
        <p:txBody>
          <a:bodyPr lIns="0" tIns="0" rIns="0" bIns="0" rtlCol="0" anchor="t">
            <a:spAutoFit/>
          </a:bodyPr>
          <a:lstStyle/>
          <a:p>
            <a:pPr algn="ctr">
              <a:lnSpc>
                <a:spcPts val="16833"/>
              </a:lnSpc>
            </a:pPr>
            <a:r>
              <a:rPr lang="en-US" sz="12024">
                <a:solidFill>
                  <a:srgbClr val="E6E8DA"/>
                </a:solidFill>
                <a:latin typeface="Anton"/>
                <a:ea typeface="Anton"/>
                <a:cs typeface="Anton"/>
                <a:sym typeface="Anton"/>
              </a:rPr>
              <a:t>MOTIVATION</a:t>
            </a:r>
          </a:p>
        </p:txBody>
      </p:sp>
      <p:grpSp>
        <p:nvGrpSpPr>
          <p:cNvPr id="12" name="Group 12"/>
          <p:cNvGrpSpPr/>
          <p:nvPr/>
        </p:nvGrpSpPr>
        <p:grpSpPr>
          <a:xfrm>
            <a:off x="6287111" y="2514931"/>
            <a:ext cx="4897363" cy="6514914"/>
            <a:chOff x="0" y="0"/>
            <a:chExt cx="7414263" cy="9863121"/>
          </a:xfrm>
        </p:grpSpPr>
        <p:sp>
          <p:nvSpPr>
            <p:cNvPr id="13" name="Freeform 13"/>
            <p:cNvSpPr/>
            <p:nvPr/>
          </p:nvSpPr>
          <p:spPr>
            <a:xfrm>
              <a:off x="0" y="0"/>
              <a:ext cx="7414260" cy="9863074"/>
            </a:xfrm>
            <a:custGeom>
              <a:avLst/>
              <a:gdLst/>
              <a:ahLst/>
              <a:cxnLst/>
              <a:rect l="l" t="t" r="r" b="b"/>
              <a:pathLst>
                <a:path w="7414260" h="9863074">
                  <a:moveTo>
                    <a:pt x="359410" y="0"/>
                  </a:moveTo>
                  <a:lnTo>
                    <a:pt x="7054850" y="0"/>
                  </a:lnTo>
                  <a:cubicBezTo>
                    <a:pt x="7253351" y="0"/>
                    <a:pt x="7414260" y="160909"/>
                    <a:pt x="7414260" y="359410"/>
                  </a:cubicBezTo>
                  <a:lnTo>
                    <a:pt x="7414260" y="9503664"/>
                  </a:lnTo>
                  <a:cubicBezTo>
                    <a:pt x="7414260" y="9702165"/>
                    <a:pt x="7253351" y="9863074"/>
                    <a:pt x="7054850" y="9863074"/>
                  </a:cubicBezTo>
                  <a:lnTo>
                    <a:pt x="359410" y="9863074"/>
                  </a:lnTo>
                  <a:cubicBezTo>
                    <a:pt x="160909" y="9863074"/>
                    <a:pt x="0" y="9702165"/>
                    <a:pt x="0" y="9503664"/>
                  </a:cubicBezTo>
                  <a:lnTo>
                    <a:pt x="0" y="359410"/>
                  </a:lnTo>
                  <a:cubicBezTo>
                    <a:pt x="0" y="160909"/>
                    <a:pt x="160909" y="0"/>
                    <a:pt x="359410" y="0"/>
                  </a:cubicBezTo>
                  <a:close/>
                </a:path>
              </a:pathLst>
            </a:custGeom>
            <a:solidFill>
              <a:srgbClr val="FFFFFF"/>
            </a:solidFill>
          </p:spPr>
        </p:sp>
      </p:grpSp>
      <p:grpSp>
        <p:nvGrpSpPr>
          <p:cNvPr id="14" name="Group 14"/>
          <p:cNvGrpSpPr/>
          <p:nvPr/>
        </p:nvGrpSpPr>
        <p:grpSpPr>
          <a:xfrm>
            <a:off x="12381420" y="2514931"/>
            <a:ext cx="4897363" cy="6514914"/>
            <a:chOff x="0" y="0"/>
            <a:chExt cx="7414263" cy="9863121"/>
          </a:xfrm>
        </p:grpSpPr>
        <p:sp>
          <p:nvSpPr>
            <p:cNvPr id="15" name="Freeform 15"/>
            <p:cNvSpPr/>
            <p:nvPr/>
          </p:nvSpPr>
          <p:spPr>
            <a:xfrm>
              <a:off x="0" y="0"/>
              <a:ext cx="7414260" cy="9863074"/>
            </a:xfrm>
            <a:custGeom>
              <a:avLst/>
              <a:gdLst/>
              <a:ahLst/>
              <a:cxnLst/>
              <a:rect l="l" t="t" r="r" b="b"/>
              <a:pathLst>
                <a:path w="7414260" h="9863074">
                  <a:moveTo>
                    <a:pt x="359410" y="0"/>
                  </a:moveTo>
                  <a:lnTo>
                    <a:pt x="7054850" y="0"/>
                  </a:lnTo>
                  <a:cubicBezTo>
                    <a:pt x="7253351" y="0"/>
                    <a:pt x="7414260" y="160909"/>
                    <a:pt x="7414260" y="359410"/>
                  </a:cubicBezTo>
                  <a:lnTo>
                    <a:pt x="7414260" y="9503664"/>
                  </a:lnTo>
                  <a:cubicBezTo>
                    <a:pt x="7414260" y="9702165"/>
                    <a:pt x="7253351" y="9863074"/>
                    <a:pt x="7054850" y="9863074"/>
                  </a:cubicBezTo>
                  <a:lnTo>
                    <a:pt x="359410" y="9863074"/>
                  </a:lnTo>
                  <a:cubicBezTo>
                    <a:pt x="160909" y="9863074"/>
                    <a:pt x="0" y="9702165"/>
                    <a:pt x="0" y="9503664"/>
                  </a:cubicBezTo>
                  <a:lnTo>
                    <a:pt x="0" y="359410"/>
                  </a:lnTo>
                  <a:cubicBezTo>
                    <a:pt x="0" y="160909"/>
                    <a:pt x="160909" y="0"/>
                    <a:pt x="359410" y="0"/>
                  </a:cubicBezTo>
                  <a:close/>
                </a:path>
              </a:pathLst>
            </a:custGeom>
            <a:solidFill>
              <a:srgbClr val="FFFFFF"/>
            </a:solidFill>
          </p:spPr>
        </p:sp>
      </p:grpSp>
      <p:sp>
        <p:nvSpPr>
          <p:cNvPr id="16" name="TextBox 16"/>
          <p:cNvSpPr txBox="1"/>
          <p:nvPr/>
        </p:nvSpPr>
        <p:spPr>
          <a:xfrm>
            <a:off x="743251" y="2785289"/>
            <a:ext cx="4574752" cy="978364"/>
          </a:xfrm>
          <a:prstGeom prst="rect">
            <a:avLst/>
          </a:prstGeom>
        </p:spPr>
        <p:txBody>
          <a:bodyPr lIns="0" tIns="0" rIns="0" bIns="0" rtlCol="0" anchor="t">
            <a:spAutoFit/>
          </a:bodyPr>
          <a:lstStyle/>
          <a:p>
            <a:pPr algn="ctr">
              <a:lnSpc>
                <a:spcPts val="3827"/>
              </a:lnSpc>
            </a:pPr>
            <a:r>
              <a:rPr lang="en-US" sz="2734" b="1">
                <a:solidFill>
                  <a:srgbClr val="000000"/>
                </a:solidFill>
                <a:latin typeface="Arimo Bold"/>
                <a:ea typeface="Arimo Bold"/>
                <a:cs typeface="Arimo Bold"/>
                <a:sym typeface="Arimo Bold"/>
              </a:rPr>
              <a:t>Growing Demand for Audio</a:t>
            </a:r>
          </a:p>
          <a:p>
            <a:pPr algn="l">
              <a:lnSpc>
                <a:spcPts val="3827"/>
              </a:lnSpc>
            </a:pPr>
            <a:r>
              <a:rPr lang="en-US" sz="2734" b="1">
                <a:solidFill>
                  <a:srgbClr val="000000"/>
                </a:solidFill>
                <a:latin typeface="Arimo Bold"/>
                <a:ea typeface="Arimo Bold"/>
                <a:cs typeface="Arimo Bold"/>
                <a:sym typeface="Arimo Bold"/>
              </a:rPr>
              <a:t> Content</a:t>
            </a:r>
          </a:p>
        </p:txBody>
      </p:sp>
      <p:sp>
        <p:nvSpPr>
          <p:cNvPr id="17" name="TextBox 17"/>
          <p:cNvSpPr txBox="1"/>
          <p:nvPr/>
        </p:nvSpPr>
        <p:spPr>
          <a:xfrm>
            <a:off x="904556" y="3283996"/>
            <a:ext cx="4252142" cy="5405372"/>
          </a:xfrm>
          <a:prstGeom prst="rect">
            <a:avLst/>
          </a:prstGeom>
        </p:spPr>
        <p:txBody>
          <a:bodyPr lIns="0" tIns="0" rIns="0" bIns="0" rtlCol="0" anchor="t">
            <a:spAutoFit/>
          </a:bodyPr>
          <a:lstStyle/>
          <a:p>
            <a:pPr algn="ctr">
              <a:lnSpc>
                <a:spcPts val="2896"/>
              </a:lnSpc>
            </a:pPr>
            <a:endParaRPr/>
          </a:p>
          <a:p>
            <a:pPr algn="ctr">
              <a:lnSpc>
                <a:spcPts val="2896"/>
              </a:lnSpc>
            </a:pPr>
            <a:endParaRPr/>
          </a:p>
          <a:p>
            <a:pPr algn="ctr">
              <a:lnSpc>
                <a:spcPts val="2896"/>
              </a:lnSpc>
            </a:pPr>
            <a:r>
              <a:rPr lang="en-US" sz="2069">
                <a:solidFill>
                  <a:srgbClr val="000000"/>
                </a:solidFill>
                <a:latin typeface="Comic Sans"/>
                <a:ea typeface="Comic Sans"/>
                <a:cs typeface="Comic Sans"/>
                <a:sym typeface="Comic Sans"/>
              </a:rPr>
              <a:t>In today's fast-paced world, audio content is becoming increasingly popular. People are looking for convenient ways to consume information and entertainment while on the go. Audiobooks provide a great solution for individuals who prefer listening over reading, allowing them to learn and be entertained while commuting, exercising, or doing other activities.</a:t>
            </a:r>
          </a:p>
          <a:p>
            <a:pPr algn="ctr">
              <a:lnSpc>
                <a:spcPts val="2896"/>
              </a:lnSpc>
            </a:pPr>
            <a:endParaRPr lang="en-US" sz="2069">
              <a:solidFill>
                <a:srgbClr val="000000"/>
              </a:solidFill>
              <a:latin typeface="Comic Sans"/>
              <a:ea typeface="Comic Sans"/>
              <a:cs typeface="Comic Sans"/>
              <a:sym typeface="Comic Sans"/>
            </a:endParaRPr>
          </a:p>
        </p:txBody>
      </p:sp>
      <p:sp>
        <p:nvSpPr>
          <p:cNvPr id="18" name="TextBox 18"/>
          <p:cNvSpPr txBox="1"/>
          <p:nvPr/>
        </p:nvSpPr>
        <p:spPr>
          <a:xfrm>
            <a:off x="6598873" y="2751614"/>
            <a:ext cx="4273838" cy="1435674"/>
          </a:xfrm>
          <a:prstGeom prst="rect">
            <a:avLst/>
          </a:prstGeom>
        </p:spPr>
        <p:txBody>
          <a:bodyPr lIns="0" tIns="0" rIns="0" bIns="0" rtlCol="0" anchor="t">
            <a:spAutoFit/>
          </a:bodyPr>
          <a:lstStyle/>
          <a:p>
            <a:pPr algn="ctr">
              <a:lnSpc>
                <a:spcPts val="3821"/>
              </a:lnSpc>
            </a:pPr>
            <a:r>
              <a:rPr lang="en-US" sz="2729" b="1">
                <a:solidFill>
                  <a:srgbClr val="000000"/>
                </a:solidFill>
                <a:latin typeface="Arimo Bold"/>
                <a:ea typeface="Arimo Bold"/>
                <a:cs typeface="Arimo Bold"/>
                <a:sym typeface="Arimo Bold"/>
              </a:rPr>
              <a:t>Accessibility for Visually</a:t>
            </a:r>
          </a:p>
          <a:p>
            <a:pPr algn="l">
              <a:lnSpc>
                <a:spcPts val="3821"/>
              </a:lnSpc>
            </a:pPr>
            <a:r>
              <a:rPr lang="en-US" sz="2729" b="1">
                <a:solidFill>
                  <a:srgbClr val="000000"/>
                </a:solidFill>
                <a:latin typeface="Arimo Bold"/>
                <a:ea typeface="Arimo Bold"/>
                <a:cs typeface="Arimo Bold"/>
                <a:sym typeface="Arimo Bold"/>
              </a:rPr>
              <a:t>   Impaired</a:t>
            </a:r>
          </a:p>
          <a:p>
            <a:pPr algn="l">
              <a:lnSpc>
                <a:spcPts val="3821"/>
              </a:lnSpc>
            </a:pPr>
            <a:endParaRPr lang="en-US" sz="2729" b="1">
              <a:solidFill>
                <a:srgbClr val="000000"/>
              </a:solidFill>
              <a:latin typeface="Arimo Bold"/>
              <a:ea typeface="Arimo Bold"/>
              <a:cs typeface="Arimo Bold"/>
              <a:sym typeface="Arimo Bold"/>
            </a:endParaRPr>
          </a:p>
        </p:txBody>
      </p:sp>
      <p:sp>
        <p:nvSpPr>
          <p:cNvPr id="19" name="TextBox 19"/>
          <p:cNvSpPr txBox="1"/>
          <p:nvPr/>
        </p:nvSpPr>
        <p:spPr>
          <a:xfrm>
            <a:off x="6598873" y="3645954"/>
            <a:ext cx="4083161" cy="4681457"/>
          </a:xfrm>
          <a:prstGeom prst="rect">
            <a:avLst/>
          </a:prstGeom>
        </p:spPr>
        <p:txBody>
          <a:bodyPr lIns="0" tIns="0" rIns="0" bIns="0" rtlCol="0" anchor="t">
            <a:spAutoFit/>
          </a:bodyPr>
          <a:lstStyle/>
          <a:p>
            <a:pPr algn="ctr">
              <a:lnSpc>
                <a:spcPts val="2897"/>
              </a:lnSpc>
            </a:pPr>
            <a:endParaRPr/>
          </a:p>
          <a:p>
            <a:pPr algn="ctr">
              <a:lnSpc>
                <a:spcPts val="2897"/>
              </a:lnSpc>
            </a:pPr>
            <a:r>
              <a:rPr lang="en-US" sz="2069">
                <a:solidFill>
                  <a:srgbClr val="000000"/>
                </a:solidFill>
                <a:latin typeface="Comic Sans"/>
                <a:ea typeface="Comic Sans"/>
                <a:cs typeface="Comic Sans"/>
                <a:sym typeface="Comic Sans"/>
              </a:rPr>
              <a:t>Audiobooks are essential for people with visual impairments, enabling them to access written information and enjoy the same literary experiences as sighted individuals. Our PDF to Audio Book Converter aims to bridge the gap in accessibility, ensuring that everyone can enjoy the benefits of reading, regardless of their visual abilities</a:t>
            </a:r>
            <a:r>
              <a:rPr lang="en-US" sz="2069" b="1">
                <a:solidFill>
                  <a:srgbClr val="000000"/>
                </a:solidFill>
                <a:latin typeface="Comic Sans Bold"/>
                <a:ea typeface="Comic Sans Bold"/>
                <a:cs typeface="Comic Sans Bold"/>
                <a:sym typeface="Comic Sans Bold"/>
              </a:rPr>
              <a:t>.</a:t>
            </a:r>
          </a:p>
          <a:p>
            <a:pPr algn="ctr">
              <a:lnSpc>
                <a:spcPts val="2897"/>
              </a:lnSpc>
            </a:pPr>
            <a:endParaRPr lang="en-US" sz="2069" b="1">
              <a:solidFill>
                <a:srgbClr val="000000"/>
              </a:solidFill>
              <a:latin typeface="Comic Sans Bold"/>
              <a:ea typeface="Comic Sans Bold"/>
              <a:cs typeface="Comic Sans Bold"/>
              <a:sym typeface="Comic Sans Bold"/>
            </a:endParaRPr>
          </a:p>
        </p:txBody>
      </p:sp>
      <p:sp>
        <p:nvSpPr>
          <p:cNvPr id="20" name="TextBox 20"/>
          <p:cNvSpPr txBox="1"/>
          <p:nvPr/>
        </p:nvSpPr>
        <p:spPr>
          <a:xfrm>
            <a:off x="12913939" y="2751614"/>
            <a:ext cx="3832324" cy="1435674"/>
          </a:xfrm>
          <a:prstGeom prst="rect">
            <a:avLst/>
          </a:prstGeom>
        </p:spPr>
        <p:txBody>
          <a:bodyPr lIns="0" tIns="0" rIns="0" bIns="0" rtlCol="0" anchor="t">
            <a:spAutoFit/>
          </a:bodyPr>
          <a:lstStyle/>
          <a:p>
            <a:pPr algn="ctr">
              <a:lnSpc>
                <a:spcPts val="3821"/>
              </a:lnSpc>
            </a:pPr>
            <a:r>
              <a:rPr lang="en-US" sz="2729" b="1">
                <a:solidFill>
                  <a:srgbClr val="000000"/>
                </a:solidFill>
                <a:latin typeface="Arimo Bold"/>
                <a:ea typeface="Arimo Bold"/>
                <a:cs typeface="Arimo Bold"/>
                <a:sym typeface="Arimo Bold"/>
              </a:rPr>
              <a:t>Enhanced Learning </a:t>
            </a:r>
          </a:p>
          <a:p>
            <a:pPr algn="l">
              <a:lnSpc>
                <a:spcPts val="3821"/>
              </a:lnSpc>
            </a:pPr>
            <a:r>
              <a:rPr lang="en-US" sz="2729" b="1">
                <a:solidFill>
                  <a:srgbClr val="000000"/>
                </a:solidFill>
                <a:latin typeface="Arimo Bold"/>
                <a:ea typeface="Arimo Bold"/>
                <a:cs typeface="Arimo Bold"/>
                <a:sym typeface="Arimo Bold"/>
              </a:rPr>
              <a:t>    Experiences</a:t>
            </a:r>
          </a:p>
          <a:p>
            <a:pPr algn="l">
              <a:lnSpc>
                <a:spcPts val="3821"/>
              </a:lnSpc>
            </a:pPr>
            <a:endParaRPr lang="en-US" sz="2729" b="1">
              <a:solidFill>
                <a:srgbClr val="000000"/>
              </a:solidFill>
              <a:latin typeface="Arimo Bold"/>
              <a:ea typeface="Arimo Bold"/>
              <a:cs typeface="Arimo Bold"/>
              <a:sym typeface="Arimo Bold"/>
            </a:endParaRPr>
          </a:p>
        </p:txBody>
      </p:sp>
      <p:sp>
        <p:nvSpPr>
          <p:cNvPr id="21" name="TextBox 21"/>
          <p:cNvSpPr txBox="1"/>
          <p:nvPr/>
        </p:nvSpPr>
        <p:spPr>
          <a:xfrm>
            <a:off x="12851186" y="3181764"/>
            <a:ext cx="3957831" cy="5767307"/>
          </a:xfrm>
          <a:prstGeom prst="rect">
            <a:avLst/>
          </a:prstGeom>
        </p:spPr>
        <p:txBody>
          <a:bodyPr lIns="0" tIns="0" rIns="0" bIns="0" rtlCol="0" anchor="t">
            <a:spAutoFit/>
          </a:bodyPr>
          <a:lstStyle/>
          <a:p>
            <a:pPr algn="ctr">
              <a:lnSpc>
                <a:spcPts val="2897"/>
              </a:lnSpc>
            </a:pPr>
            <a:endParaRPr/>
          </a:p>
          <a:p>
            <a:pPr algn="ctr">
              <a:lnSpc>
                <a:spcPts val="2897"/>
              </a:lnSpc>
            </a:pPr>
            <a:endParaRPr/>
          </a:p>
          <a:p>
            <a:pPr algn="ctr">
              <a:lnSpc>
                <a:spcPts val="2897"/>
              </a:lnSpc>
            </a:pPr>
            <a:r>
              <a:rPr lang="en-US" sz="2069">
                <a:solidFill>
                  <a:srgbClr val="000000"/>
                </a:solidFill>
                <a:latin typeface="Comic Sans"/>
                <a:ea typeface="Comic Sans"/>
                <a:cs typeface="Comic Sans"/>
                <a:sym typeface="Comic Sans"/>
              </a:rPr>
              <a:t>Audiobooks provide a unique learning experience, allowing individuals to absorb information passively while engaging in other activities. This is particularly beneficial for students and professionals who are constantly on the go. The ability to listen to academic articles, research papers, and textbooks while commuting or exercising enhances learning efficiency and retention.</a:t>
            </a:r>
          </a:p>
          <a:p>
            <a:pPr algn="ctr">
              <a:lnSpc>
                <a:spcPts val="2897"/>
              </a:lnSpc>
            </a:pPr>
            <a:endParaRPr lang="en-US" sz="2069">
              <a:solidFill>
                <a:srgbClr val="000000"/>
              </a:solidFill>
              <a:latin typeface="Comic Sans"/>
              <a:ea typeface="Comic Sans"/>
              <a:cs typeface="Comic Sans"/>
              <a:sym typeface="Comic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grpSp>
        <p:nvGrpSpPr>
          <p:cNvPr id="2" name="Group 2"/>
          <p:cNvGrpSpPr/>
          <p:nvPr/>
        </p:nvGrpSpPr>
        <p:grpSpPr>
          <a:xfrm>
            <a:off x="1994184" y="-28003"/>
            <a:ext cx="16274762" cy="2113407"/>
            <a:chOff x="0" y="0"/>
            <a:chExt cx="21699682" cy="2817876"/>
          </a:xfrm>
        </p:grpSpPr>
        <p:sp>
          <p:nvSpPr>
            <p:cNvPr id="3" name="Freeform 3"/>
            <p:cNvSpPr/>
            <p:nvPr/>
          </p:nvSpPr>
          <p:spPr>
            <a:xfrm>
              <a:off x="0" y="0"/>
              <a:ext cx="21699680" cy="2817793"/>
            </a:xfrm>
            <a:custGeom>
              <a:avLst/>
              <a:gdLst/>
              <a:ahLst/>
              <a:cxnLst/>
              <a:rect l="l" t="t" r="r" b="b"/>
              <a:pathLst>
                <a:path w="21699680" h="2817793">
                  <a:moveTo>
                    <a:pt x="0" y="0"/>
                  </a:moveTo>
                  <a:lnTo>
                    <a:pt x="21699680" y="0"/>
                  </a:lnTo>
                  <a:lnTo>
                    <a:pt x="21699680" y="2817793"/>
                  </a:lnTo>
                  <a:lnTo>
                    <a:pt x="0" y="2817793"/>
                  </a:lnTo>
                  <a:close/>
                </a:path>
              </a:pathLst>
            </a:custGeom>
            <a:solidFill>
              <a:srgbClr val="C00000"/>
            </a:solidFill>
          </p:spPr>
        </p:sp>
        <p:sp>
          <p:nvSpPr>
            <p:cNvPr id="4" name="TextBox 4"/>
            <p:cNvSpPr txBox="1"/>
            <p:nvPr/>
          </p:nvSpPr>
          <p:spPr>
            <a:xfrm>
              <a:off x="0" y="0"/>
              <a:ext cx="21699682" cy="2817876"/>
            </a:xfrm>
            <a:prstGeom prst="rect">
              <a:avLst/>
            </a:prstGeom>
          </p:spPr>
          <p:txBody>
            <a:bodyPr lIns="50800" tIns="50800" rIns="50800" bIns="50800" rtlCol="0" anchor="t"/>
            <a:lstStyle/>
            <a:p>
              <a:pPr algn="l">
                <a:lnSpc>
                  <a:spcPts val="7200"/>
                </a:lnSpc>
              </a:pPr>
              <a:r>
                <a:rPr lang="en-US" sz="6000" spc="13">
                  <a:solidFill>
                    <a:srgbClr val="000000"/>
                  </a:solidFill>
                  <a:latin typeface="Rosario"/>
                  <a:ea typeface="Rosario"/>
                  <a:cs typeface="Rosario"/>
                  <a:sym typeface="Rosario"/>
                </a:rPr>
                <a:t>                             </a:t>
              </a: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19050" y="9402509"/>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Freeform 8" descr="https://galgotiacollege.edu/public/uploads/all/3106/phelosophy.jpeg"/>
          <p:cNvSpPr/>
          <p:nvPr/>
        </p:nvSpPr>
        <p:spPr>
          <a:xfrm>
            <a:off x="0" y="-24680"/>
            <a:ext cx="2289764" cy="2141244"/>
          </a:xfrm>
          <a:custGeom>
            <a:avLst/>
            <a:gdLst/>
            <a:ahLst/>
            <a:cxnLst/>
            <a:rect l="l" t="t" r="r" b="b"/>
            <a:pathLst>
              <a:path w="2289764" h="2141244">
                <a:moveTo>
                  <a:pt x="0" y="0"/>
                </a:moveTo>
                <a:lnTo>
                  <a:pt x="2289764" y="0"/>
                </a:lnTo>
                <a:lnTo>
                  <a:pt x="2289764" y="2141244"/>
                </a:lnTo>
                <a:lnTo>
                  <a:pt x="0" y="2141244"/>
                </a:lnTo>
                <a:lnTo>
                  <a:pt x="0" y="0"/>
                </a:lnTo>
                <a:close/>
              </a:path>
            </a:pathLst>
          </a:custGeom>
          <a:blipFill>
            <a:blip r:embed="rId2"/>
            <a:stretch>
              <a:fillRect b="-6391"/>
            </a:stretch>
          </a:blipFill>
        </p:spPr>
      </p:sp>
      <p:sp>
        <p:nvSpPr>
          <p:cNvPr id="9" name="TextBox 9"/>
          <p:cNvSpPr txBox="1"/>
          <p:nvPr/>
        </p:nvSpPr>
        <p:spPr>
          <a:xfrm>
            <a:off x="5424699" y="-106573"/>
            <a:ext cx="10805485" cy="2066906"/>
          </a:xfrm>
          <a:prstGeom prst="rect">
            <a:avLst/>
          </a:prstGeom>
        </p:spPr>
        <p:txBody>
          <a:bodyPr lIns="0" tIns="0" rIns="0" bIns="0" rtlCol="0" anchor="t">
            <a:spAutoFit/>
          </a:bodyPr>
          <a:lstStyle/>
          <a:p>
            <a:pPr algn="l">
              <a:lnSpc>
                <a:spcPts val="16800"/>
              </a:lnSpc>
            </a:pPr>
            <a:r>
              <a:rPr lang="en-US" sz="12000">
                <a:solidFill>
                  <a:srgbClr val="000000"/>
                </a:solidFill>
                <a:latin typeface="Anton"/>
                <a:ea typeface="Anton"/>
                <a:cs typeface="Anton"/>
                <a:sym typeface="Anton"/>
              </a:rPr>
              <a:t>OUR OBJECTIVE</a:t>
            </a:r>
          </a:p>
        </p:txBody>
      </p:sp>
      <p:sp>
        <p:nvSpPr>
          <p:cNvPr id="10" name="TextBox 10"/>
          <p:cNvSpPr txBox="1"/>
          <p:nvPr/>
        </p:nvSpPr>
        <p:spPr>
          <a:xfrm>
            <a:off x="818083" y="2991361"/>
            <a:ext cx="16230772" cy="4474771"/>
          </a:xfrm>
          <a:prstGeom prst="rect">
            <a:avLst/>
          </a:prstGeom>
        </p:spPr>
        <p:txBody>
          <a:bodyPr lIns="0" tIns="0" rIns="0" bIns="0" rtlCol="0" anchor="t">
            <a:spAutoFit/>
          </a:bodyPr>
          <a:lstStyle/>
          <a:p>
            <a:pPr algn="ctr">
              <a:lnSpc>
                <a:spcPts val="5052"/>
              </a:lnSpc>
            </a:pPr>
            <a:r>
              <a:rPr lang="en-US" sz="3609">
                <a:solidFill>
                  <a:srgbClr val="000000"/>
                </a:solidFill>
                <a:latin typeface="Canva Sans"/>
                <a:ea typeface="Canva Sans"/>
                <a:cs typeface="Canva Sans"/>
                <a:sym typeface="Canva Sans"/>
              </a:rPr>
              <a:t>The objective of PDF to Audiobook Converter is to provide a seamless and efficient solution for transforming digital text into audio content. Our platform aims to enhance accessibility for users who prefer listening to reading, including those with visual impairments, busy professionals, or multitaskers. By leveraging advanced AI-driven text-to-speech technology, we strive to deliver high-quality, natural-sounding audiobooks from PDFs.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053044" y="0"/>
            <a:ext cx="16393918" cy="2113407"/>
            <a:chOff x="0" y="0"/>
            <a:chExt cx="21858557" cy="2817876"/>
          </a:xfrm>
        </p:grpSpPr>
        <p:sp>
          <p:nvSpPr>
            <p:cNvPr id="3" name="Freeform 3"/>
            <p:cNvSpPr/>
            <p:nvPr/>
          </p:nvSpPr>
          <p:spPr>
            <a:xfrm>
              <a:off x="0" y="0"/>
              <a:ext cx="21858556" cy="2817793"/>
            </a:xfrm>
            <a:custGeom>
              <a:avLst/>
              <a:gdLst/>
              <a:ahLst/>
              <a:cxnLst/>
              <a:rect l="l" t="t" r="r" b="b"/>
              <a:pathLst>
                <a:path w="21858556" h="2817793">
                  <a:moveTo>
                    <a:pt x="0" y="0"/>
                  </a:moveTo>
                  <a:lnTo>
                    <a:pt x="21858556" y="0"/>
                  </a:lnTo>
                  <a:lnTo>
                    <a:pt x="21858556" y="2817793"/>
                  </a:lnTo>
                  <a:lnTo>
                    <a:pt x="0" y="2817793"/>
                  </a:lnTo>
                  <a:close/>
                </a:path>
              </a:pathLst>
            </a:custGeom>
            <a:solidFill>
              <a:srgbClr val="C00000"/>
            </a:solidFill>
          </p:spPr>
        </p:sp>
        <p:sp>
          <p:nvSpPr>
            <p:cNvPr id="4" name="TextBox 4"/>
            <p:cNvSpPr txBox="1"/>
            <p:nvPr/>
          </p:nvSpPr>
          <p:spPr>
            <a:xfrm>
              <a:off x="0" y="0"/>
              <a:ext cx="21858557" cy="2817876"/>
            </a:xfrm>
            <a:prstGeom prst="rect">
              <a:avLst/>
            </a:prstGeom>
          </p:spPr>
          <p:txBody>
            <a:bodyPr lIns="50800" tIns="50800" rIns="50800" bIns="50800" rtlCol="0" anchor="t"/>
            <a:lstStyle/>
            <a:p>
              <a:pPr algn="ctr">
                <a:lnSpc>
                  <a:spcPts val="7200"/>
                </a:lnSpc>
              </a:pPr>
              <a:endParaRP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0"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Freeform 8" descr="https://galgotiacollege.edu/public/uploads/all/3106/phelosophy.jpeg"/>
          <p:cNvSpPr/>
          <p:nvPr/>
        </p:nvSpPr>
        <p:spPr>
          <a:xfrm>
            <a:off x="0" y="-24680"/>
            <a:ext cx="2272551" cy="2127569"/>
          </a:xfrm>
          <a:custGeom>
            <a:avLst/>
            <a:gdLst/>
            <a:ahLst/>
            <a:cxnLst/>
            <a:rect l="l" t="t" r="r" b="b"/>
            <a:pathLst>
              <a:path w="2272551" h="2127569">
                <a:moveTo>
                  <a:pt x="0" y="0"/>
                </a:moveTo>
                <a:lnTo>
                  <a:pt x="2272551" y="0"/>
                </a:lnTo>
                <a:lnTo>
                  <a:pt x="2272551" y="2127570"/>
                </a:lnTo>
                <a:lnTo>
                  <a:pt x="0" y="2127570"/>
                </a:lnTo>
                <a:lnTo>
                  <a:pt x="0" y="0"/>
                </a:lnTo>
                <a:close/>
              </a:path>
            </a:pathLst>
          </a:custGeom>
          <a:blipFill>
            <a:blip r:embed="rId2"/>
            <a:stretch>
              <a:fillRect b="-6270"/>
            </a:stretch>
          </a:blipFill>
        </p:spPr>
      </p:sp>
      <p:sp>
        <p:nvSpPr>
          <p:cNvPr id="9" name="AutoShape 9"/>
          <p:cNvSpPr/>
          <p:nvPr/>
        </p:nvSpPr>
        <p:spPr>
          <a:xfrm>
            <a:off x="309910" y="6890929"/>
            <a:ext cx="17668179" cy="0"/>
          </a:xfrm>
          <a:prstGeom prst="line">
            <a:avLst/>
          </a:prstGeom>
          <a:ln w="38100" cap="flat">
            <a:solidFill>
              <a:srgbClr val="FFFFFF"/>
            </a:solidFill>
            <a:prstDash val="solid"/>
            <a:headEnd type="none" w="sm" len="sm"/>
            <a:tailEnd type="none" w="sm" len="sm"/>
          </a:ln>
        </p:spPr>
      </p:sp>
      <p:sp>
        <p:nvSpPr>
          <p:cNvPr id="10" name="TextBox 10"/>
          <p:cNvSpPr txBox="1"/>
          <p:nvPr/>
        </p:nvSpPr>
        <p:spPr>
          <a:xfrm>
            <a:off x="2348854" y="1525362"/>
            <a:ext cx="14201781" cy="1155055"/>
          </a:xfrm>
          <a:prstGeom prst="rect">
            <a:avLst/>
          </a:prstGeom>
        </p:spPr>
        <p:txBody>
          <a:bodyPr lIns="0" tIns="0" rIns="0" bIns="0" rtlCol="0" anchor="t">
            <a:spAutoFit/>
          </a:bodyPr>
          <a:lstStyle/>
          <a:p>
            <a:pPr algn="l">
              <a:lnSpc>
                <a:spcPts val="4320"/>
              </a:lnSpc>
            </a:pPr>
            <a:endParaRPr/>
          </a:p>
          <a:p>
            <a:pPr algn="ctr">
              <a:lnSpc>
                <a:spcPts val="4320"/>
              </a:lnSpc>
            </a:pPr>
            <a:r>
              <a:rPr lang="en-US" sz="3600" b="1" spc="33">
                <a:solidFill>
                  <a:srgbClr val="000000"/>
                </a:solidFill>
                <a:latin typeface="TT Rounds Condensed Bold"/>
                <a:ea typeface="TT Rounds Condensed Bold"/>
                <a:cs typeface="TT Rounds Condensed Bold"/>
                <a:sym typeface="TT Rounds Condensed Bold"/>
              </a:rPr>
              <a:t> </a:t>
            </a:r>
          </a:p>
        </p:txBody>
      </p:sp>
      <p:sp>
        <p:nvSpPr>
          <p:cNvPr id="11" name="TextBox 11"/>
          <p:cNvSpPr txBox="1"/>
          <p:nvPr/>
        </p:nvSpPr>
        <p:spPr>
          <a:xfrm>
            <a:off x="2602926" y="-72954"/>
            <a:ext cx="14567577" cy="1974707"/>
          </a:xfrm>
          <a:prstGeom prst="rect">
            <a:avLst/>
          </a:prstGeom>
        </p:spPr>
        <p:txBody>
          <a:bodyPr lIns="0" tIns="0" rIns="0" bIns="0" rtlCol="0" anchor="t">
            <a:spAutoFit/>
          </a:bodyPr>
          <a:lstStyle/>
          <a:p>
            <a:pPr algn="ctr">
              <a:lnSpc>
                <a:spcPts val="16101"/>
              </a:lnSpc>
            </a:pPr>
            <a:r>
              <a:rPr lang="en-US" sz="11499">
                <a:solidFill>
                  <a:srgbClr val="E6E8DA"/>
                </a:solidFill>
                <a:latin typeface="Anton"/>
                <a:ea typeface="Anton"/>
                <a:cs typeface="Anton"/>
                <a:sym typeface="Anton"/>
              </a:rPr>
              <a:t>Proposed Idea/Solution</a:t>
            </a:r>
          </a:p>
        </p:txBody>
      </p:sp>
      <p:sp>
        <p:nvSpPr>
          <p:cNvPr id="12" name="TextBox 12"/>
          <p:cNvSpPr txBox="1"/>
          <p:nvPr/>
        </p:nvSpPr>
        <p:spPr>
          <a:xfrm>
            <a:off x="399282" y="2279181"/>
            <a:ext cx="17668179" cy="1729146"/>
          </a:xfrm>
          <a:prstGeom prst="rect">
            <a:avLst/>
          </a:prstGeom>
        </p:spPr>
        <p:txBody>
          <a:bodyPr lIns="0" tIns="0" rIns="0" bIns="0" rtlCol="0" anchor="t">
            <a:spAutoFit/>
          </a:bodyPr>
          <a:lstStyle/>
          <a:p>
            <a:pPr algn="just">
              <a:lnSpc>
                <a:spcPts val="3462"/>
              </a:lnSpc>
            </a:pPr>
            <a:r>
              <a:rPr lang="en-US" sz="2473">
                <a:solidFill>
                  <a:srgbClr val="FFFFFF"/>
                </a:solidFill>
                <a:latin typeface="Canva Sans"/>
                <a:ea typeface="Canva Sans"/>
                <a:cs typeface="Canva Sans"/>
                <a:sym typeface="Canva Sans"/>
              </a:rPr>
              <a:t>Our proposed solution utilizes an AI-powered text-to-speech (TTS) engine integrated with a sophisticated PDF parsing system and audio production capabilities. This powerful combination ensures accurate conversion, natural-sounding narration, and high-quality audio output.</a:t>
            </a:r>
          </a:p>
          <a:p>
            <a:pPr algn="just">
              <a:lnSpc>
                <a:spcPts val="3593"/>
              </a:lnSpc>
            </a:pPr>
            <a:endParaRPr lang="en-US" sz="2473">
              <a:solidFill>
                <a:srgbClr val="FFFFFF"/>
              </a:solidFill>
              <a:latin typeface="Canva Sans"/>
              <a:ea typeface="Canva Sans"/>
              <a:cs typeface="Canva Sans"/>
              <a:sym typeface="Canva Sans"/>
            </a:endParaRPr>
          </a:p>
        </p:txBody>
      </p:sp>
      <p:sp>
        <p:nvSpPr>
          <p:cNvPr id="13" name="TextBox 13"/>
          <p:cNvSpPr txBox="1"/>
          <p:nvPr/>
        </p:nvSpPr>
        <p:spPr>
          <a:xfrm>
            <a:off x="1454439" y="3977231"/>
            <a:ext cx="2424946" cy="490923"/>
          </a:xfrm>
          <a:prstGeom prst="rect">
            <a:avLst/>
          </a:prstGeom>
        </p:spPr>
        <p:txBody>
          <a:bodyPr lIns="0" tIns="0" rIns="0" bIns="0" rtlCol="0" anchor="t">
            <a:spAutoFit/>
          </a:bodyPr>
          <a:lstStyle/>
          <a:p>
            <a:pPr algn="ctr">
              <a:lnSpc>
                <a:spcPts val="3919"/>
              </a:lnSpc>
            </a:pPr>
            <a:r>
              <a:rPr lang="en-US" sz="2799" u="sng">
                <a:solidFill>
                  <a:srgbClr val="FFFFFF"/>
                </a:solidFill>
                <a:latin typeface="Lazydog"/>
                <a:ea typeface="Lazydog"/>
                <a:cs typeface="Lazydog"/>
                <a:sym typeface="Lazydog"/>
              </a:rPr>
              <a:t>PDF Parsing</a:t>
            </a:r>
          </a:p>
        </p:txBody>
      </p:sp>
      <p:sp>
        <p:nvSpPr>
          <p:cNvPr id="14" name="TextBox 14"/>
          <p:cNvSpPr txBox="1"/>
          <p:nvPr/>
        </p:nvSpPr>
        <p:spPr>
          <a:xfrm>
            <a:off x="399282" y="4500888"/>
            <a:ext cx="5352985" cy="2350529"/>
          </a:xfrm>
          <a:prstGeom prst="rect">
            <a:avLst/>
          </a:prstGeom>
        </p:spPr>
        <p:txBody>
          <a:bodyPr lIns="0" tIns="0" rIns="0" bIns="0" rtlCol="0" anchor="t">
            <a:spAutoFit/>
          </a:bodyPr>
          <a:lstStyle/>
          <a:p>
            <a:pPr algn="ctr">
              <a:lnSpc>
                <a:spcPts val="2589"/>
              </a:lnSpc>
            </a:pPr>
            <a:r>
              <a:rPr lang="en-US" sz="1849">
                <a:solidFill>
                  <a:srgbClr val="FFFFFF"/>
                </a:solidFill>
                <a:latin typeface="Comic Sans"/>
                <a:ea typeface="Comic Sans"/>
                <a:cs typeface="Comic Sans"/>
                <a:sym typeface="Comic Sans"/>
              </a:rPr>
              <a:t>The first step involves parsing the PDF document to extract the text content, preserving the original formatting and layout. This ensures that the audio output accurately reflects the structure and content of the original document.</a:t>
            </a:r>
          </a:p>
          <a:p>
            <a:pPr algn="ctr">
              <a:lnSpc>
                <a:spcPts val="4134"/>
              </a:lnSpc>
            </a:pPr>
            <a:endParaRPr lang="en-US" sz="1849">
              <a:solidFill>
                <a:srgbClr val="FFFFFF"/>
              </a:solidFill>
              <a:latin typeface="Comic Sans"/>
              <a:ea typeface="Comic Sans"/>
              <a:cs typeface="Comic Sans"/>
              <a:sym typeface="Comic Sans"/>
            </a:endParaRPr>
          </a:p>
        </p:txBody>
      </p:sp>
      <p:sp>
        <p:nvSpPr>
          <p:cNvPr id="15" name="TextBox 15"/>
          <p:cNvSpPr txBox="1"/>
          <p:nvPr/>
        </p:nvSpPr>
        <p:spPr>
          <a:xfrm>
            <a:off x="13412210" y="3935829"/>
            <a:ext cx="3450908" cy="997974"/>
          </a:xfrm>
          <a:prstGeom prst="rect">
            <a:avLst/>
          </a:prstGeom>
        </p:spPr>
        <p:txBody>
          <a:bodyPr lIns="0" tIns="0" rIns="0" bIns="0" rtlCol="0" anchor="t">
            <a:spAutoFit/>
          </a:bodyPr>
          <a:lstStyle/>
          <a:p>
            <a:pPr algn="ctr">
              <a:lnSpc>
                <a:spcPts val="3976"/>
              </a:lnSpc>
            </a:pPr>
            <a:r>
              <a:rPr lang="en-US" sz="2800" u="sng">
                <a:solidFill>
                  <a:srgbClr val="FFFFFF"/>
                </a:solidFill>
                <a:latin typeface="Lazydog"/>
                <a:ea typeface="Lazydog"/>
                <a:cs typeface="Lazydog"/>
                <a:sym typeface="Lazydog"/>
              </a:rPr>
              <a:t>Audio Production</a:t>
            </a:r>
          </a:p>
          <a:p>
            <a:pPr algn="ctr">
              <a:lnSpc>
                <a:spcPts val="3976"/>
              </a:lnSpc>
            </a:pPr>
            <a:endParaRPr lang="en-US" sz="2800" u="sng">
              <a:solidFill>
                <a:srgbClr val="FFFFFF"/>
              </a:solidFill>
              <a:latin typeface="Lazydog"/>
              <a:ea typeface="Lazydog"/>
              <a:cs typeface="Lazydog"/>
              <a:sym typeface="Lazydog"/>
            </a:endParaRPr>
          </a:p>
        </p:txBody>
      </p:sp>
      <p:sp>
        <p:nvSpPr>
          <p:cNvPr id="16" name="TextBox 16"/>
          <p:cNvSpPr txBox="1"/>
          <p:nvPr/>
        </p:nvSpPr>
        <p:spPr>
          <a:xfrm>
            <a:off x="11237502" y="4415715"/>
            <a:ext cx="7050498" cy="2350529"/>
          </a:xfrm>
          <a:prstGeom prst="rect">
            <a:avLst/>
          </a:prstGeom>
        </p:spPr>
        <p:txBody>
          <a:bodyPr lIns="0" tIns="0" rIns="0" bIns="0" rtlCol="0" anchor="t">
            <a:spAutoFit/>
          </a:bodyPr>
          <a:lstStyle/>
          <a:p>
            <a:pPr algn="ctr">
              <a:lnSpc>
                <a:spcPts val="2589"/>
              </a:lnSpc>
            </a:pPr>
            <a:r>
              <a:rPr lang="en-US" sz="1849">
                <a:solidFill>
                  <a:srgbClr val="FFFFFF"/>
                </a:solidFill>
                <a:latin typeface="Comic Sans"/>
                <a:ea typeface="Comic Sans"/>
                <a:cs typeface="Comic Sans"/>
                <a:sym typeface="Comic Sans"/>
              </a:rPr>
              <a:t>The final step involves producing the audiobook file, combining the converted speech with any necessary sound effects or music to enhance the listening experience. The tool provides options for different audio formats and quality settings, allowing users to customize the output based on their preferences.</a:t>
            </a:r>
          </a:p>
          <a:p>
            <a:pPr algn="ctr">
              <a:lnSpc>
                <a:spcPts val="4134"/>
              </a:lnSpc>
            </a:pPr>
            <a:endParaRPr lang="en-US" sz="1849">
              <a:solidFill>
                <a:srgbClr val="FFFFFF"/>
              </a:solidFill>
              <a:latin typeface="Comic Sans"/>
              <a:ea typeface="Comic Sans"/>
              <a:cs typeface="Comic Sans"/>
              <a:sym typeface="Comic Sans"/>
            </a:endParaRPr>
          </a:p>
        </p:txBody>
      </p:sp>
      <p:sp>
        <p:nvSpPr>
          <p:cNvPr id="17" name="TextBox 17"/>
          <p:cNvSpPr txBox="1"/>
          <p:nvPr/>
        </p:nvSpPr>
        <p:spPr>
          <a:xfrm>
            <a:off x="6391275" y="7240131"/>
            <a:ext cx="5505450" cy="986225"/>
          </a:xfrm>
          <a:prstGeom prst="rect">
            <a:avLst/>
          </a:prstGeom>
        </p:spPr>
        <p:txBody>
          <a:bodyPr lIns="0" tIns="0" rIns="0" bIns="0" rtlCol="0" anchor="t">
            <a:spAutoFit/>
          </a:bodyPr>
          <a:lstStyle/>
          <a:p>
            <a:pPr algn="ctr">
              <a:lnSpc>
                <a:spcPts val="3919"/>
              </a:lnSpc>
            </a:pPr>
            <a:r>
              <a:rPr lang="en-US" sz="2799" u="sng">
                <a:solidFill>
                  <a:srgbClr val="FFFFFF"/>
                </a:solidFill>
                <a:latin typeface="Lazydog"/>
                <a:ea typeface="Lazydog"/>
                <a:cs typeface="Lazydog"/>
                <a:sym typeface="Lazydog"/>
              </a:rPr>
              <a:t>Text-to-Speech Conversion</a:t>
            </a:r>
          </a:p>
          <a:p>
            <a:pPr algn="ctr">
              <a:lnSpc>
                <a:spcPts val="3919"/>
              </a:lnSpc>
            </a:pPr>
            <a:endParaRPr lang="en-US" sz="2799" u="sng">
              <a:solidFill>
                <a:srgbClr val="FFFFFF"/>
              </a:solidFill>
              <a:latin typeface="Lazydog"/>
              <a:ea typeface="Lazydog"/>
              <a:cs typeface="Lazydog"/>
              <a:sym typeface="Lazydog"/>
            </a:endParaRPr>
          </a:p>
        </p:txBody>
      </p:sp>
      <p:sp>
        <p:nvSpPr>
          <p:cNvPr id="18" name="TextBox 18"/>
          <p:cNvSpPr txBox="1"/>
          <p:nvPr/>
        </p:nvSpPr>
        <p:spPr>
          <a:xfrm>
            <a:off x="5752267" y="7839136"/>
            <a:ext cx="6783466" cy="2026679"/>
          </a:xfrm>
          <a:prstGeom prst="rect">
            <a:avLst/>
          </a:prstGeom>
        </p:spPr>
        <p:txBody>
          <a:bodyPr lIns="0" tIns="0" rIns="0" bIns="0" rtlCol="0" anchor="t">
            <a:spAutoFit/>
          </a:bodyPr>
          <a:lstStyle/>
          <a:p>
            <a:pPr algn="ctr">
              <a:lnSpc>
                <a:spcPts val="2589"/>
              </a:lnSpc>
            </a:pPr>
            <a:r>
              <a:rPr lang="en-US" sz="1849">
                <a:solidFill>
                  <a:srgbClr val="FFFFFF"/>
                </a:solidFill>
                <a:latin typeface="Comic Sans"/>
                <a:ea typeface="Comic Sans"/>
                <a:cs typeface="Comic Sans"/>
                <a:sym typeface="Comic Sans"/>
              </a:rPr>
              <a:t>The extracted text is then fed into the AI-powered TTS engine, which converts the written words into natural-sounding speech. The engine is trained on a vast dataset of human speech, allowing it to produce realistic and expressive audio.</a:t>
            </a:r>
          </a:p>
          <a:p>
            <a:pPr algn="ctr">
              <a:lnSpc>
                <a:spcPts val="4134"/>
              </a:lnSpc>
            </a:pPr>
            <a:endParaRPr lang="en-US" sz="1849">
              <a:solidFill>
                <a:srgbClr val="FFFFFF"/>
              </a:solidFill>
              <a:latin typeface="Comic Sans"/>
              <a:ea typeface="Comic Sans"/>
              <a:cs typeface="Comic Sans"/>
              <a:sym typeface="Comic Sans"/>
            </a:endParaRPr>
          </a:p>
        </p:txBody>
      </p:sp>
      <p:sp>
        <p:nvSpPr>
          <p:cNvPr id="19" name="TextBox 19"/>
          <p:cNvSpPr txBox="1"/>
          <p:nvPr/>
        </p:nvSpPr>
        <p:spPr>
          <a:xfrm>
            <a:off x="2666912" y="6341503"/>
            <a:ext cx="803726" cy="1041702"/>
          </a:xfrm>
          <a:prstGeom prst="rect">
            <a:avLst/>
          </a:prstGeom>
        </p:spPr>
        <p:txBody>
          <a:bodyPr lIns="0" tIns="0" rIns="0" bIns="0" rtlCol="0" anchor="t">
            <a:spAutoFit/>
          </a:bodyPr>
          <a:lstStyle/>
          <a:p>
            <a:pPr algn="ctr">
              <a:lnSpc>
                <a:spcPts val="3358"/>
              </a:lnSpc>
            </a:pPr>
            <a:r>
              <a:rPr lang="en-US" sz="2400" b="1">
                <a:solidFill>
                  <a:srgbClr val="000000"/>
                </a:solidFill>
                <a:latin typeface="Arimo Bold"/>
                <a:ea typeface="Arimo Bold"/>
                <a:cs typeface="Arimo Bold"/>
                <a:sym typeface="Arimo Bold"/>
              </a:rPr>
              <a:t>1.</a:t>
            </a:r>
          </a:p>
        </p:txBody>
      </p:sp>
      <p:grpSp>
        <p:nvGrpSpPr>
          <p:cNvPr id="20" name="Group 20"/>
          <p:cNvGrpSpPr/>
          <p:nvPr/>
        </p:nvGrpSpPr>
        <p:grpSpPr>
          <a:xfrm>
            <a:off x="2053044" y="6475052"/>
            <a:ext cx="831754" cy="83175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E8DA"/>
            </a:solidFill>
          </p:spPr>
        </p:sp>
        <p:sp>
          <p:nvSpPr>
            <p:cNvPr id="22" name="TextBox 22"/>
            <p:cNvSpPr txBox="1"/>
            <p:nvPr/>
          </p:nvSpPr>
          <p:spPr>
            <a:xfrm>
              <a:off x="76200" y="9525"/>
              <a:ext cx="660400" cy="727075"/>
            </a:xfrm>
            <a:prstGeom prst="rect">
              <a:avLst/>
            </a:prstGeom>
          </p:spPr>
          <p:txBody>
            <a:bodyPr lIns="50800" tIns="50800" rIns="50800" bIns="50800" rtlCol="0" anchor="ctr"/>
            <a:lstStyle/>
            <a:p>
              <a:pPr algn="ctr">
                <a:lnSpc>
                  <a:spcPts val="3541"/>
                </a:lnSpc>
              </a:pPr>
              <a:endParaRPr/>
            </a:p>
          </p:txBody>
        </p:sp>
      </p:grpSp>
      <p:grpSp>
        <p:nvGrpSpPr>
          <p:cNvPr id="23" name="Group 23"/>
          <p:cNvGrpSpPr/>
          <p:nvPr/>
        </p:nvGrpSpPr>
        <p:grpSpPr>
          <a:xfrm>
            <a:off x="8728123" y="6475052"/>
            <a:ext cx="831754" cy="83175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E8DA"/>
            </a:solidFill>
          </p:spPr>
        </p:sp>
        <p:sp>
          <p:nvSpPr>
            <p:cNvPr id="25" name="TextBox 25"/>
            <p:cNvSpPr txBox="1"/>
            <p:nvPr/>
          </p:nvSpPr>
          <p:spPr>
            <a:xfrm>
              <a:off x="76200" y="9525"/>
              <a:ext cx="660400" cy="727075"/>
            </a:xfrm>
            <a:prstGeom prst="rect">
              <a:avLst/>
            </a:prstGeom>
          </p:spPr>
          <p:txBody>
            <a:bodyPr lIns="50800" tIns="50800" rIns="50800" bIns="50800" rtlCol="0" anchor="ctr"/>
            <a:lstStyle/>
            <a:p>
              <a:pPr algn="ctr">
                <a:lnSpc>
                  <a:spcPts val="3541"/>
                </a:lnSpc>
              </a:pPr>
              <a:endParaRPr/>
            </a:p>
          </p:txBody>
        </p:sp>
      </p:grpSp>
      <p:grpSp>
        <p:nvGrpSpPr>
          <p:cNvPr id="26" name="Group 26"/>
          <p:cNvGrpSpPr/>
          <p:nvPr/>
        </p:nvGrpSpPr>
        <p:grpSpPr>
          <a:xfrm>
            <a:off x="15137664" y="6475052"/>
            <a:ext cx="831754" cy="83175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E8DA"/>
            </a:solidFill>
          </p:spPr>
        </p:sp>
        <p:sp>
          <p:nvSpPr>
            <p:cNvPr id="28" name="TextBox 28"/>
            <p:cNvSpPr txBox="1"/>
            <p:nvPr/>
          </p:nvSpPr>
          <p:spPr>
            <a:xfrm>
              <a:off x="76200" y="9525"/>
              <a:ext cx="660400" cy="727075"/>
            </a:xfrm>
            <a:prstGeom prst="rect">
              <a:avLst/>
            </a:prstGeom>
          </p:spPr>
          <p:txBody>
            <a:bodyPr lIns="50800" tIns="50800" rIns="50800" bIns="50800" rtlCol="0" anchor="ctr"/>
            <a:lstStyle/>
            <a:p>
              <a:pPr algn="ctr">
                <a:lnSpc>
                  <a:spcPts val="3541"/>
                </a:lnSpc>
              </a:pPr>
              <a:endParaRPr/>
            </a:p>
          </p:txBody>
        </p:sp>
      </p:grpSp>
      <p:sp>
        <p:nvSpPr>
          <p:cNvPr id="29" name="TextBox 29"/>
          <p:cNvSpPr txBox="1"/>
          <p:nvPr/>
        </p:nvSpPr>
        <p:spPr>
          <a:xfrm>
            <a:off x="2334916" y="6642868"/>
            <a:ext cx="268010" cy="450149"/>
          </a:xfrm>
          <a:prstGeom prst="rect">
            <a:avLst/>
          </a:prstGeom>
        </p:spPr>
        <p:txBody>
          <a:bodyPr lIns="0" tIns="0" rIns="0" bIns="0" rtlCol="0" anchor="t">
            <a:spAutoFit/>
          </a:bodyPr>
          <a:lstStyle/>
          <a:p>
            <a:pPr algn="ctr">
              <a:lnSpc>
                <a:spcPts val="3541"/>
              </a:lnSpc>
              <a:spcBef>
                <a:spcPct val="0"/>
              </a:spcBef>
            </a:pPr>
            <a:r>
              <a:rPr lang="en-US" sz="2529" b="1">
                <a:solidFill>
                  <a:srgbClr val="000000"/>
                </a:solidFill>
                <a:latin typeface="Arimo Bold"/>
                <a:ea typeface="Arimo Bold"/>
                <a:cs typeface="Arimo Bold"/>
                <a:sym typeface="Arimo Bold"/>
              </a:rPr>
              <a:t>1.</a:t>
            </a:r>
          </a:p>
        </p:txBody>
      </p:sp>
      <p:sp>
        <p:nvSpPr>
          <p:cNvPr id="30" name="TextBox 30"/>
          <p:cNvSpPr txBox="1"/>
          <p:nvPr/>
        </p:nvSpPr>
        <p:spPr>
          <a:xfrm>
            <a:off x="9009993" y="6632517"/>
            <a:ext cx="268010" cy="450149"/>
          </a:xfrm>
          <a:prstGeom prst="rect">
            <a:avLst/>
          </a:prstGeom>
        </p:spPr>
        <p:txBody>
          <a:bodyPr lIns="0" tIns="0" rIns="0" bIns="0" rtlCol="0" anchor="t">
            <a:spAutoFit/>
          </a:bodyPr>
          <a:lstStyle/>
          <a:p>
            <a:pPr algn="ctr">
              <a:lnSpc>
                <a:spcPts val="3541"/>
              </a:lnSpc>
              <a:spcBef>
                <a:spcPct val="0"/>
              </a:spcBef>
            </a:pPr>
            <a:r>
              <a:rPr lang="en-US" sz="2529" b="1">
                <a:solidFill>
                  <a:srgbClr val="000000"/>
                </a:solidFill>
                <a:latin typeface="Arimo Bold"/>
                <a:ea typeface="Arimo Bold"/>
                <a:cs typeface="Arimo Bold"/>
                <a:sym typeface="Arimo Bold"/>
              </a:rPr>
              <a:t>2.</a:t>
            </a:r>
          </a:p>
        </p:txBody>
      </p:sp>
      <p:sp>
        <p:nvSpPr>
          <p:cNvPr id="31" name="TextBox 31"/>
          <p:cNvSpPr txBox="1"/>
          <p:nvPr/>
        </p:nvSpPr>
        <p:spPr>
          <a:xfrm>
            <a:off x="15419536" y="6642868"/>
            <a:ext cx="268010" cy="450149"/>
          </a:xfrm>
          <a:prstGeom prst="rect">
            <a:avLst/>
          </a:prstGeom>
        </p:spPr>
        <p:txBody>
          <a:bodyPr lIns="0" tIns="0" rIns="0" bIns="0" rtlCol="0" anchor="t">
            <a:spAutoFit/>
          </a:bodyPr>
          <a:lstStyle/>
          <a:p>
            <a:pPr algn="ctr">
              <a:lnSpc>
                <a:spcPts val="3541"/>
              </a:lnSpc>
              <a:spcBef>
                <a:spcPct val="0"/>
              </a:spcBef>
            </a:pPr>
            <a:r>
              <a:rPr lang="en-US" sz="2529" b="1">
                <a:solidFill>
                  <a:srgbClr val="000000"/>
                </a:solidFill>
                <a:latin typeface="Arimo Bold"/>
                <a:ea typeface="Arimo Bold"/>
                <a:cs typeface="Arimo Bold"/>
                <a:sym typeface="Arimo Bold"/>
              </a:rPr>
              <a:t>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grpSp>
        <p:nvGrpSpPr>
          <p:cNvPr id="2" name="Group 2"/>
          <p:cNvGrpSpPr/>
          <p:nvPr/>
        </p:nvGrpSpPr>
        <p:grpSpPr>
          <a:xfrm>
            <a:off x="2238369" y="0"/>
            <a:ext cx="16030576" cy="2113407"/>
            <a:chOff x="0" y="0"/>
            <a:chExt cx="21374102" cy="2817876"/>
          </a:xfrm>
        </p:grpSpPr>
        <p:sp>
          <p:nvSpPr>
            <p:cNvPr id="3" name="Freeform 3"/>
            <p:cNvSpPr/>
            <p:nvPr/>
          </p:nvSpPr>
          <p:spPr>
            <a:xfrm>
              <a:off x="0" y="0"/>
              <a:ext cx="21374100" cy="2817793"/>
            </a:xfrm>
            <a:custGeom>
              <a:avLst/>
              <a:gdLst/>
              <a:ahLst/>
              <a:cxnLst/>
              <a:rect l="l" t="t" r="r" b="b"/>
              <a:pathLst>
                <a:path w="21374100" h="2817793">
                  <a:moveTo>
                    <a:pt x="0" y="0"/>
                  </a:moveTo>
                  <a:lnTo>
                    <a:pt x="21374100" y="0"/>
                  </a:lnTo>
                  <a:lnTo>
                    <a:pt x="21374100" y="2817793"/>
                  </a:lnTo>
                  <a:lnTo>
                    <a:pt x="0" y="2817793"/>
                  </a:lnTo>
                  <a:close/>
                </a:path>
              </a:pathLst>
            </a:custGeom>
            <a:solidFill>
              <a:srgbClr val="C00000"/>
            </a:solidFill>
          </p:spPr>
        </p:sp>
        <p:sp>
          <p:nvSpPr>
            <p:cNvPr id="4" name="TextBox 4"/>
            <p:cNvSpPr txBox="1"/>
            <p:nvPr/>
          </p:nvSpPr>
          <p:spPr>
            <a:xfrm>
              <a:off x="0" y="0"/>
              <a:ext cx="21374102" cy="2817876"/>
            </a:xfrm>
            <a:prstGeom prst="rect">
              <a:avLst/>
            </a:prstGeom>
          </p:spPr>
          <p:txBody>
            <a:bodyPr lIns="50800" tIns="50800" rIns="50800" bIns="50800" rtlCol="0" anchor="t"/>
            <a:lstStyle/>
            <a:p>
              <a:pPr algn="ctr">
                <a:lnSpc>
                  <a:spcPts val="7200"/>
                </a:lnSpc>
              </a:pPr>
              <a:endParaRP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4"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TextBox 8"/>
          <p:cNvSpPr txBox="1"/>
          <p:nvPr/>
        </p:nvSpPr>
        <p:spPr>
          <a:xfrm>
            <a:off x="2348854" y="1525362"/>
            <a:ext cx="14201781" cy="1155055"/>
          </a:xfrm>
          <a:prstGeom prst="rect">
            <a:avLst/>
          </a:prstGeom>
        </p:spPr>
        <p:txBody>
          <a:bodyPr lIns="0" tIns="0" rIns="0" bIns="0" rtlCol="0" anchor="t">
            <a:spAutoFit/>
          </a:bodyPr>
          <a:lstStyle/>
          <a:p>
            <a:pPr algn="l">
              <a:lnSpc>
                <a:spcPts val="4320"/>
              </a:lnSpc>
            </a:pPr>
            <a:endParaRPr/>
          </a:p>
          <a:p>
            <a:pPr algn="ctr">
              <a:lnSpc>
                <a:spcPts val="4320"/>
              </a:lnSpc>
            </a:pPr>
            <a:r>
              <a:rPr lang="en-US" sz="3600" b="1" spc="33">
                <a:solidFill>
                  <a:srgbClr val="000000"/>
                </a:solidFill>
                <a:latin typeface="TT Rounds Condensed Bold"/>
                <a:ea typeface="TT Rounds Condensed Bold"/>
                <a:cs typeface="TT Rounds Condensed Bold"/>
                <a:sym typeface="TT Rounds Condensed Bold"/>
              </a:rPr>
              <a:t> </a:t>
            </a:r>
          </a:p>
        </p:txBody>
      </p:sp>
      <p:sp>
        <p:nvSpPr>
          <p:cNvPr id="9" name="Freeform 9" descr="https://galgotiacollege.edu/public/uploads/all/3106/phelosophy.jpeg"/>
          <p:cNvSpPr/>
          <p:nvPr/>
        </p:nvSpPr>
        <p:spPr>
          <a:xfrm>
            <a:off x="0" y="-24680"/>
            <a:ext cx="2275141" cy="2127569"/>
          </a:xfrm>
          <a:custGeom>
            <a:avLst/>
            <a:gdLst/>
            <a:ahLst/>
            <a:cxnLst/>
            <a:rect l="l" t="t" r="r" b="b"/>
            <a:pathLst>
              <a:path w="2275141" h="2127569">
                <a:moveTo>
                  <a:pt x="0" y="0"/>
                </a:moveTo>
                <a:lnTo>
                  <a:pt x="2275141" y="0"/>
                </a:lnTo>
                <a:lnTo>
                  <a:pt x="2275141" y="2127570"/>
                </a:lnTo>
                <a:lnTo>
                  <a:pt x="0" y="2127570"/>
                </a:lnTo>
                <a:lnTo>
                  <a:pt x="0" y="0"/>
                </a:lnTo>
                <a:close/>
              </a:path>
            </a:pathLst>
          </a:custGeom>
          <a:blipFill>
            <a:blip r:embed="rId2"/>
            <a:stretch>
              <a:fillRect b="-6391"/>
            </a:stretch>
          </a:blipFill>
        </p:spPr>
      </p:sp>
      <p:sp>
        <p:nvSpPr>
          <p:cNvPr id="10" name="TextBox 10"/>
          <p:cNvSpPr txBox="1"/>
          <p:nvPr/>
        </p:nvSpPr>
        <p:spPr>
          <a:xfrm>
            <a:off x="1342237" y="-95790"/>
            <a:ext cx="17259300" cy="2066863"/>
          </a:xfrm>
          <a:prstGeom prst="rect">
            <a:avLst/>
          </a:prstGeom>
        </p:spPr>
        <p:txBody>
          <a:bodyPr lIns="0" tIns="0" rIns="0" bIns="0" rtlCol="0" anchor="t">
            <a:spAutoFit/>
          </a:bodyPr>
          <a:lstStyle/>
          <a:p>
            <a:pPr algn="ctr">
              <a:lnSpc>
                <a:spcPts val="16800"/>
              </a:lnSpc>
            </a:pPr>
            <a:r>
              <a:rPr lang="en-US" sz="12000">
                <a:solidFill>
                  <a:srgbClr val="000000"/>
                </a:solidFill>
                <a:latin typeface="Anton"/>
                <a:ea typeface="Anton"/>
                <a:cs typeface="Anton"/>
                <a:sym typeface="Anton"/>
              </a:rPr>
              <a:t>METHODOLOGY</a:t>
            </a:r>
          </a:p>
        </p:txBody>
      </p:sp>
      <p:sp>
        <p:nvSpPr>
          <p:cNvPr id="11" name="TextBox 11"/>
          <p:cNvSpPr txBox="1"/>
          <p:nvPr/>
        </p:nvSpPr>
        <p:spPr>
          <a:xfrm>
            <a:off x="1009648" y="3076422"/>
            <a:ext cx="16230600" cy="4442206"/>
          </a:xfrm>
          <a:prstGeom prst="rect">
            <a:avLst/>
          </a:prstGeom>
        </p:spPr>
        <p:txBody>
          <a:bodyPr lIns="0" tIns="0" rIns="0" bIns="0" rtlCol="0" anchor="t">
            <a:spAutoFit/>
          </a:bodyPr>
          <a:lstStyle/>
          <a:p>
            <a:pPr algn="just">
              <a:lnSpc>
                <a:spcPts val="5053"/>
              </a:lnSpc>
            </a:pPr>
            <a:r>
              <a:rPr lang="en-US" sz="3609">
                <a:solidFill>
                  <a:srgbClr val="000000"/>
                </a:solidFill>
                <a:latin typeface="Canva Sans"/>
                <a:ea typeface="Canva Sans"/>
                <a:cs typeface="Canva Sans"/>
                <a:sym typeface="Canva Sans"/>
              </a:rPr>
              <a:t>Our methodology involves utilizing advanced text-to-speech (TTS) technology to convert PDF documents into audiobooks. Users simply upload their PDF, select a preferred voice and language, and our AI-powered engine processes the text, transforming it into clear, natural-sounding audio. The platform ensures accuracy in pronunciation and structure, delivering a high-quality listening experience efficiently and reliably.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238369" y="-1119730"/>
            <a:ext cx="16030576" cy="3222619"/>
            <a:chOff x="0" y="0"/>
            <a:chExt cx="21374102" cy="4296826"/>
          </a:xfrm>
        </p:grpSpPr>
        <p:sp>
          <p:nvSpPr>
            <p:cNvPr id="3" name="Freeform 3"/>
            <p:cNvSpPr/>
            <p:nvPr/>
          </p:nvSpPr>
          <p:spPr>
            <a:xfrm>
              <a:off x="0" y="0"/>
              <a:ext cx="21374100" cy="4296699"/>
            </a:xfrm>
            <a:custGeom>
              <a:avLst/>
              <a:gdLst/>
              <a:ahLst/>
              <a:cxnLst/>
              <a:rect l="l" t="t" r="r" b="b"/>
              <a:pathLst>
                <a:path w="21374100" h="4296699">
                  <a:moveTo>
                    <a:pt x="0" y="0"/>
                  </a:moveTo>
                  <a:lnTo>
                    <a:pt x="21374100" y="0"/>
                  </a:lnTo>
                  <a:lnTo>
                    <a:pt x="21374100" y="4296699"/>
                  </a:lnTo>
                  <a:lnTo>
                    <a:pt x="0" y="4296699"/>
                  </a:lnTo>
                  <a:close/>
                </a:path>
              </a:pathLst>
            </a:custGeom>
            <a:solidFill>
              <a:srgbClr val="C00000"/>
            </a:solidFill>
          </p:spPr>
        </p:sp>
        <p:sp>
          <p:nvSpPr>
            <p:cNvPr id="4" name="TextBox 4"/>
            <p:cNvSpPr txBox="1"/>
            <p:nvPr/>
          </p:nvSpPr>
          <p:spPr>
            <a:xfrm>
              <a:off x="0" y="0"/>
              <a:ext cx="21374102" cy="4296826"/>
            </a:xfrm>
            <a:prstGeom prst="rect">
              <a:avLst/>
            </a:prstGeom>
          </p:spPr>
          <p:txBody>
            <a:bodyPr lIns="50800" tIns="50800" rIns="50800" bIns="50800" rtlCol="0" anchor="t"/>
            <a:lstStyle/>
            <a:p>
              <a:pPr algn="ctr">
                <a:lnSpc>
                  <a:spcPts val="7200"/>
                </a:lnSpc>
              </a:pPr>
              <a:endParaRPr/>
            </a:p>
            <a:p>
              <a:pPr algn="l">
                <a:lnSpc>
                  <a:spcPts val="7200"/>
                </a:lnSpc>
              </a:pPr>
              <a:endParaRPr/>
            </a:p>
            <a:p>
              <a:pPr algn="ctr">
                <a:lnSpc>
                  <a:spcPts val="7200"/>
                </a:lnSpc>
              </a:pPr>
              <a:r>
                <a:rPr lang="en-US" sz="6000" b="1" spc="13">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19050"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TextBox 8"/>
          <p:cNvSpPr txBox="1"/>
          <p:nvPr/>
        </p:nvSpPr>
        <p:spPr>
          <a:xfrm>
            <a:off x="2348854" y="1525362"/>
            <a:ext cx="14201781" cy="1155055"/>
          </a:xfrm>
          <a:prstGeom prst="rect">
            <a:avLst/>
          </a:prstGeom>
        </p:spPr>
        <p:txBody>
          <a:bodyPr lIns="0" tIns="0" rIns="0" bIns="0" rtlCol="0" anchor="t">
            <a:spAutoFit/>
          </a:bodyPr>
          <a:lstStyle/>
          <a:p>
            <a:pPr algn="l">
              <a:lnSpc>
                <a:spcPts val="4320"/>
              </a:lnSpc>
            </a:pPr>
            <a:endParaRPr/>
          </a:p>
          <a:p>
            <a:pPr algn="ctr">
              <a:lnSpc>
                <a:spcPts val="4320"/>
              </a:lnSpc>
            </a:pPr>
            <a:r>
              <a:rPr lang="en-US" sz="3600" b="1" spc="33">
                <a:solidFill>
                  <a:srgbClr val="000000"/>
                </a:solidFill>
                <a:latin typeface="TT Rounds Condensed Bold"/>
                <a:ea typeface="TT Rounds Condensed Bold"/>
                <a:cs typeface="TT Rounds Condensed Bold"/>
                <a:sym typeface="TT Rounds Condensed Bold"/>
              </a:rPr>
              <a:t> </a:t>
            </a:r>
          </a:p>
        </p:txBody>
      </p:sp>
      <p:sp>
        <p:nvSpPr>
          <p:cNvPr id="9" name="Freeform 9" descr="https://galgotiacollege.edu/public/uploads/all/3106/phelosophy.jpeg"/>
          <p:cNvSpPr/>
          <p:nvPr/>
        </p:nvSpPr>
        <p:spPr>
          <a:xfrm>
            <a:off x="0" y="-24680"/>
            <a:ext cx="2348855" cy="2127569"/>
          </a:xfrm>
          <a:custGeom>
            <a:avLst/>
            <a:gdLst/>
            <a:ahLst/>
            <a:cxnLst/>
            <a:rect l="l" t="t" r="r" b="b"/>
            <a:pathLst>
              <a:path w="2348855" h="2127569">
                <a:moveTo>
                  <a:pt x="0" y="0"/>
                </a:moveTo>
                <a:lnTo>
                  <a:pt x="2348855" y="0"/>
                </a:lnTo>
                <a:lnTo>
                  <a:pt x="2348855" y="2127570"/>
                </a:lnTo>
                <a:lnTo>
                  <a:pt x="0" y="2127570"/>
                </a:lnTo>
                <a:lnTo>
                  <a:pt x="0" y="0"/>
                </a:lnTo>
                <a:close/>
              </a:path>
            </a:pathLst>
          </a:custGeom>
          <a:blipFill>
            <a:blip r:embed="rId2"/>
            <a:stretch>
              <a:fillRect t="-2025" b="-7813"/>
            </a:stretch>
          </a:blipFill>
        </p:spPr>
      </p:sp>
      <p:sp>
        <p:nvSpPr>
          <p:cNvPr id="10" name="TextBox 10"/>
          <p:cNvSpPr txBox="1"/>
          <p:nvPr/>
        </p:nvSpPr>
        <p:spPr>
          <a:xfrm>
            <a:off x="7031500" y="262980"/>
            <a:ext cx="7993395" cy="2047893"/>
          </a:xfrm>
          <a:prstGeom prst="rect">
            <a:avLst/>
          </a:prstGeom>
        </p:spPr>
        <p:txBody>
          <a:bodyPr lIns="0" tIns="0" rIns="0" bIns="0" rtlCol="0" anchor="t">
            <a:spAutoFit/>
          </a:bodyPr>
          <a:lstStyle/>
          <a:p>
            <a:pPr algn="l">
              <a:lnSpc>
                <a:spcPts val="16799"/>
              </a:lnSpc>
            </a:pPr>
            <a:r>
              <a:rPr lang="en-US" sz="12000">
                <a:solidFill>
                  <a:srgbClr val="E6E8DA"/>
                </a:solidFill>
                <a:latin typeface="Anton"/>
                <a:ea typeface="Anton"/>
                <a:cs typeface="Anton"/>
                <a:sym typeface="Anton"/>
              </a:rPr>
              <a:t>SERVICE</a:t>
            </a:r>
          </a:p>
        </p:txBody>
      </p:sp>
      <p:sp>
        <p:nvSpPr>
          <p:cNvPr id="11" name="TextBox 11"/>
          <p:cNvSpPr txBox="1"/>
          <p:nvPr/>
        </p:nvSpPr>
        <p:spPr>
          <a:xfrm rot="-539999">
            <a:off x="5601882" y="-311358"/>
            <a:ext cx="4352657" cy="1839609"/>
          </a:xfrm>
          <a:prstGeom prst="rect">
            <a:avLst/>
          </a:prstGeom>
        </p:spPr>
        <p:txBody>
          <a:bodyPr lIns="0" tIns="0" rIns="0" bIns="0" rtlCol="0" anchor="t">
            <a:spAutoFit/>
          </a:bodyPr>
          <a:lstStyle/>
          <a:p>
            <a:pPr algn="l">
              <a:lnSpc>
                <a:spcPts val="13579"/>
              </a:lnSpc>
            </a:pPr>
            <a:r>
              <a:rPr lang="en-US" sz="9699">
                <a:solidFill>
                  <a:srgbClr val="000000"/>
                </a:solidFill>
                <a:latin typeface="Brittany"/>
                <a:ea typeface="Brittany"/>
                <a:cs typeface="Brittany"/>
                <a:sym typeface="Brittany"/>
              </a:rPr>
              <a:t>Our</a:t>
            </a:r>
          </a:p>
        </p:txBody>
      </p:sp>
      <p:sp>
        <p:nvSpPr>
          <p:cNvPr id="12" name="TextBox 12"/>
          <p:cNvSpPr txBox="1"/>
          <p:nvPr/>
        </p:nvSpPr>
        <p:spPr>
          <a:xfrm>
            <a:off x="1028700" y="2175593"/>
            <a:ext cx="7461414" cy="5565625"/>
          </a:xfrm>
          <a:prstGeom prst="rect">
            <a:avLst/>
          </a:prstGeom>
        </p:spPr>
        <p:txBody>
          <a:bodyPr lIns="0" tIns="0" rIns="0" bIns="0" rtlCol="0" anchor="t">
            <a:spAutoFit/>
          </a:bodyPr>
          <a:lstStyle/>
          <a:p>
            <a:pPr marL="945070" lvl="2" indent="-315023" algn="just">
              <a:lnSpc>
                <a:spcPts val="10335"/>
              </a:lnSpc>
              <a:buFont typeface="Arial"/>
              <a:buChar char="⚬"/>
            </a:pPr>
            <a:r>
              <a:rPr lang="en-US" sz="4134">
                <a:solidFill>
                  <a:srgbClr val="FFFFFF"/>
                </a:solidFill>
                <a:latin typeface="Canva Sans"/>
                <a:ea typeface="Canva Sans"/>
                <a:cs typeface="Canva Sans"/>
                <a:sym typeface="Canva Sans"/>
              </a:rPr>
              <a:t>Voice Customization</a:t>
            </a:r>
          </a:p>
          <a:p>
            <a:pPr marL="945070" lvl="2" indent="-315023" algn="just">
              <a:lnSpc>
                <a:spcPts val="10335"/>
              </a:lnSpc>
              <a:buFont typeface="Arial"/>
              <a:buChar char="⚬"/>
            </a:pPr>
            <a:r>
              <a:rPr lang="en-US" sz="4134">
                <a:solidFill>
                  <a:srgbClr val="FFFFFF"/>
                </a:solidFill>
                <a:latin typeface="Canva Sans"/>
                <a:ea typeface="Canva Sans"/>
                <a:cs typeface="Canva Sans"/>
                <a:sym typeface="Canva Sans"/>
              </a:rPr>
              <a:t>Multilingual Support</a:t>
            </a:r>
          </a:p>
          <a:p>
            <a:pPr marL="945070" lvl="2" indent="-315023" algn="just">
              <a:lnSpc>
                <a:spcPts val="10335"/>
              </a:lnSpc>
              <a:buFont typeface="Arial"/>
              <a:buChar char="⚬"/>
            </a:pPr>
            <a:r>
              <a:rPr lang="en-US" sz="4134">
                <a:solidFill>
                  <a:srgbClr val="FFFFFF"/>
                </a:solidFill>
                <a:latin typeface="Canva Sans"/>
                <a:ea typeface="Canva Sans"/>
                <a:cs typeface="Canva Sans"/>
                <a:sym typeface="Canva Sans"/>
              </a:rPr>
              <a:t>AI Summarization</a:t>
            </a:r>
          </a:p>
          <a:p>
            <a:pPr marL="945070" lvl="2" indent="-315023" algn="just">
              <a:lnSpc>
                <a:spcPts val="10335"/>
              </a:lnSpc>
              <a:buFont typeface="Arial"/>
              <a:buChar char="⚬"/>
            </a:pPr>
            <a:r>
              <a:rPr lang="en-US" sz="4134">
                <a:solidFill>
                  <a:srgbClr val="FFFFFF"/>
                </a:solidFill>
                <a:latin typeface="Canva Sans"/>
                <a:ea typeface="Canva Sans"/>
                <a:cs typeface="Canva Sans"/>
                <a:sym typeface="Canva Sans"/>
              </a:rPr>
              <a:t>Mobile and Offline Access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grpSp>
        <p:nvGrpSpPr>
          <p:cNvPr id="2" name="Group 2"/>
          <p:cNvGrpSpPr/>
          <p:nvPr/>
        </p:nvGrpSpPr>
        <p:grpSpPr>
          <a:xfrm>
            <a:off x="2257414" y="-27085"/>
            <a:ext cx="16030576" cy="2165213"/>
            <a:chOff x="0" y="0"/>
            <a:chExt cx="21374102" cy="2886950"/>
          </a:xfrm>
        </p:grpSpPr>
        <p:sp>
          <p:nvSpPr>
            <p:cNvPr id="3" name="Freeform 3"/>
            <p:cNvSpPr/>
            <p:nvPr/>
          </p:nvSpPr>
          <p:spPr>
            <a:xfrm>
              <a:off x="0" y="0"/>
              <a:ext cx="21374100" cy="2886865"/>
            </a:xfrm>
            <a:custGeom>
              <a:avLst/>
              <a:gdLst/>
              <a:ahLst/>
              <a:cxnLst/>
              <a:rect l="l" t="t" r="r" b="b"/>
              <a:pathLst>
                <a:path w="21374100" h="2886865">
                  <a:moveTo>
                    <a:pt x="0" y="0"/>
                  </a:moveTo>
                  <a:lnTo>
                    <a:pt x="21374100" y="0"/>
                  </a:lnTo>
                  <a:lnTo>
                    <a:pt x="21374100" y="2886865"/>
                  </a:lnTo>
                  <a:lnTo>
                    <a:pt x="0" y="2886865"/>
                  </a:lnTo>
                  <a:close/>
                </a:path>
              </a:pathLst>
            </a:custGeom>
            <a:solidFill>
              <a:srgbClr val="C00000"/>
            </a:solidFill>
          </p:spPr>
        </p:sp>
        <p:sp>
          <p:nvSpPr>
            <p:cNvPr id="4" name="TextBox 4"/>
            <p:cNvSpPr txBox="1"/>
            <p:nvPr/>
          </p:nvSpPr>
          <p:spPr>
            <a:xfrm>
              <a:off x="0" y="-123825"/>
              <a:ext cx="21374102" cy="3010775"/>
            </a:xfrm>
            <a:prstGeom prst="rect">
              <a:avLst/>
            </a:prstGeom>
          </p:spPr>
          <p:txBody>
            <a:bodyPr lIns="50800" tIns="50800" rIns="50800" bIns="50800" rtlCol="0" anchor="t"/>
            <a:lstStyle/>
            <a:p>
              <a:pPr algn="ctr">
                <a:lnSpc>
                  <a:spcPts val="7200"/>
                </a:lnSpc>
              </a:pPr>
              <a:r>
                <a:rPr lang="en-US" sz="6000" b="1">
                  <a:solidFill>
                    <a:srgbClr val="FFFFFF"/>
                  </a:solidFill>
                  <a:latin typeface="Times New Roman Bold"/>
                  <a:ea typeface="Times New Roman Bold"/>
                  <a:cs typeface="Times New Roman Bold"/>
                  <a:sym typeface="Times New Roman Bold"/>
                </a:rPr>
                <a:t>                                 </a:t>
              </a:r>
            </a:p>
          </p:txBody>
        </p:sp>
      </p:grpSp>
      <p:grpSp>
        <p:nvGrpSpPr>
          <p:cNvPr id="5" name="Group 5"/>
          <p:cNvGrpSpPr/>
          <p:nvPr/>
        </p:nvGrpSpPr>
        <p:grpSpPr>
          <a:xfrm>
            <a:off x="-19050" y="9654193"/>
            <a:ext cx="18287996" cy="602673"/>
            <a:chOff x="0" y="0"/>
            <a:chExt cx="24383994" cy="803564"/>
          </a:xfrm>
        </p:grpSpPr>
        <p:sp>
          <p:nvSpPr>
            <p:cNvPr id="6" name="Freeform 6"/>
            <p:cNvSpPr/>
            <p:nvPr/>
          </p:nvSpPr>
          <p:spPr>
            <a:xfrm>
              <a:off x="0" y="0"/>
              <a:ext cx="24384000" cy="803529"/>
            </a:xfrm>
            <a:custGeom>
              <a:avLst/>
              <a:gdLst/>
              <a:ahLst/>
              <a:cxnLst/>
              <a:rect l="l" t="t" r="r" b="b"/>
              <a:pathLst>
                <a:path w="24384000" h="803529">
                  <a:moveTo>
                    <a:pt x="0" y="0"/>
                  </a:moveTo>
                  <a:lnTo>
                    <a:pt x="24384000" y="0"/>
                  </a:lnTo>
                  <a:lnTo>
                    <a:pt x="24384000" y="803529"/>
                  </a:lnTo>
                  <a:lnTo>
                    <a:pt x="0" y="803529"/>
                  </a:lnTo>
                  <a:close/>
                </a:path>
              </a:pathLst>
            </a:custGeom>
            <a:solidFill>
              <a:srgbClr val="C00000"/>
            </a:solidFill>
          </p:spPr>
        </p:sp>
        <p:sp>
          <p:nvSpPr>
            <p:cNvPr id="7" name="TextBox 7"/>
            <p:cNvSpPr txBox="1"/>
            <p:nvPr/>
          </p:nvSpPr>
          <p:spPr>
            <a:xfrm>
              <a:off x="0" y="47625"/>
              <a:ext cx="24383994" cy="75593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Freeform 8" descr="https://galgotiacollege.edu/public/uploads/all/3106/phelosophy.jpeg"/>
          <p:cNvSpPr/>
          <p:nvPr/>
        </p:nvSpPr>
        <p:spPr>
          <a:xfrm>
            <a:off x="0" y="-24679"/>
            <a:ext cx="2257424" cy="2162807"/>
          </a:xfrm>
          <a:custGeom>
            <a:avLst/>
            <a:gdLst/>
            <a:ahLst/>
            <a:cxnLst/>
            <a:rect l="l" t="t" r="r" b="b"/>
            <a:pathLst>
              <a:path w="2257424" h="2162807">
                <a:moveTo>
                  <a:pt x="0" y="0"/>
                </a:moveTo>
                <a:lnTo>
                  <a:pt x="2257424" y="0"/>
                </a:lnTo>
                <a:lnTo>
                  <a:pt x="2257424" y="2162806"/>
                </a:lnTo>
                <a:lnTo>
                  <a:pt x="0" y="2162806"/>
                </a:lnTo>
                <a:lnTo>
                  <a:pt x="0" y="0"/>
                </a:lnTo>
                <a:close/>
              </a:path>
            </a:pathLst>
          </a:custGeom>
          <a:blipFill>
            <a:blip r:embed="rId2"/>
            <a:stretch>
              <a:fillRect b="-3842"/>
            </a:stretch>
          </a:blipFill>
        </p:spPr>
      </p:sp>
      <p:sp>
        <p:nvSpPr>
          <p:cNvPr id="9" name="TextBox 9"/>
          <p:cNvSpPr txBox="1"/>
          <p:nvPr/>
        </p:nvSpPr>
        <p:spPr>
          <a:xfrm>
            <a:off x="4327968" y="138303"/>
            <a:ext cx="10858342" cy="1665391"/>
          </a:xfrm>
          <a:prstGeom prst="rect">
            <a:avLst/>
          </a:prstGeom>
        </p:spPr>
        <p:txBody>
          <a:bodyPr lIns="0" tIns="0" rIns="0" bIns="0" rtlCol="0" anchor="t">
            <a:spAutoFit/>
          </a:bodyPr>
          <a:lstStyle/>
          <a:p>
            <a:pPr algn="ctr">
              <a:lnSpc>
                <a:spcPts val="12156"/>
              </a:lnSpc>
            </a:pPr>
            <a:r>
              <a:rPr lang="en-US" sz="8683">
                <a:solidFill>
                  <a:srgbClr val="000000"/>
                </a:solidFill>
                <a:latin typeface="Anton"/>
                <a:ea typeface="Anton"/>
                <a:cs typeface="Anton"/>
                <a:sym typeface="Anton"/>
              </a:rPr>
              <a:t>SOLUTION ENVIRONMENT</a:t>
            </a:r>
          </a:p>
        </p:txBody>
      </p:sp>
      <p:sp>
        <p:nvSpPr>
          <p:cNvPr id="10" name="TextBox 10"/>
          <p:cNvSpPr txBox="1"/>
          <p:nvPr/>
        </p:nvSpPr>
        <p:spPr>
          <a:xfrm>
            <a:off x="1449328" y="2176065"/>
            <a:ext cx="15809972" cy="2116442"/>
          </a:xfrm>
          <a:prstGeom prst="rect">
            <a:avLst/>
          </a:prstGeom>
        </p:spPr>
        <p:txBody>
          <a:bodyPr lIns="0" tIns="0" rIns="0" bIns="0" rtlCol="0" anchor="t">
            <a:spAutoFit/>
          </a:bodyPr>
          <a:lstStyle/>
          <a:p>
            <a:pPr algn="ctr">
              <a:lnSpc>
                <a:spcPts val="2775"/>
              </a:lnSpc>
            </a:pPr>
            <a:r>
              <a:rPr lang="en-US" sz="2351">
                <a:solidFill>
                  <a:srgbClr val="000000"/>
                </a:solidFill>
                <a:latin typeface="Canva Sans"/>
                <a:ea typeface="Canva Sans"/>
                <a:cs typeface="Canva Sans"/>
                <a:sym typeface="Canva Sans"/>
              </a:rPr>
              <a:t>Our PDF to Audio Book Converter will be hosted on a secure and scalable cloud-based platform, ensuring accessibility and availability for users worldwide. This cloud infrastructure allows for flexible scaling to accommodate increasing user demands, guaranteeing a seamless and uninterrupted service. The user interface will be designed with simplicity and intuitiveness in mind, providing a user-friendly experience for individuals of all technical backgrounds.</a:t>
            </a:r>
          </a:p>
          <a:p>
            <a:pPr algn="ctr">
              <a:lnSpc>
                <a:spcPts val="3292"/>
              </a:lnSpc>
            </a:pPr>
            <a:endParaRPr lang="en-US" sz="2351">
              <a:solidFill>
                <a:srgbClr val="000000"/>
              </a:solidFill>
              <a:latin typeface="Canva Sans"/>
              <a:ea typeface="Canva Sans"/>
              <a:cs typeface="Canva Sans"/>
              <a:sym typeface="Canva Sans"/>
            </a:endParaRPr>
          </a:p>
        </p:txBody>
      </p:sp>
      <p:sp>
        <p:nvSpPr>
          <p:cNvPr id="11" name="Freeform 11"/>
          <p:cNvSpPr/>
          <p:nvPr/>
        </p:nvSpPr>
        <p:spPr>
          <a:xfrm>
            <a:off x="262659" y="4040828"/>
            <a:ext cx="978231" cy="1871960"/>
          </a:xfrm>
          <a:custGeom>
            <a:avLst/>
            <a:gdLst/>
            <a:ahLst/>
            <a:cxnLst/>
            <a:rect l="l" t="t" r="r" b="b"/>
            <a:pathLst>
              <a:path w="978231" h="1871960">
                <a:moveTo>
                  <a:pt x="0" y="0"/>
                </a:moveTo>
                <a:lnTo>
                  <a:pt x="978231" y="0"/>
                </a:lnTo>
                <a:lnTo>
                  <a:pt x="978231" y="1871960"/>
                </a:lnTo>
                <a:lnTo>
                  <a:pt x="0" y="18719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262659" y="5669303"/>
            <a:ext cx="978231" cy="1871960"/>
          </a:xfrm>
          <a:custGeom>
            <a:avLst/>
            <a:gdLst/>
            <a:ahLst/>
            <a:cxnLst/>
            <a:rect l="l" t="t" r="r" b="b"/>
            <a:pathLst>
              <a:path w="978231" h="1871960">
                <a:moveTo>
                  <a:pt x="0" y="0"/>
                </a:moveTo>
                <a:lnTo>
                  <a:pt x="978231" y="0"/>
                </a:lnTo>
                <a:lnTo>
                  <a:pt x="978231" y="1871960"/>
                </a:lnTo>
                <a:lnTo>
                  <a:pt x="0" y="18719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3" name="Freeform 13"/>
          <p:cNvSpPr/>
          <p:nvPr/>
        </p:nvSpPr>
        <p:spPr>
          <a:xfrm>
            <a:off x="262659" y="7297778"/>
            <a:ext cx="978231" cy="1871960"/>
          </a:xfrm>
          <a:custGeom>
            <a:avLst/>
            <a:gdLst/>
            <a:ahLst/>
            <a:cxnLst/>
            <a:rect l="l" t="t" r="r" b="b"/>
            <a:pathLst>
              <a:path w="978231" h="1871960">
                <a:moveTo>
                  <a:pt x="0" y="0"/>
                </a:moveTo>
                <a:lnTo>
                  <a:pt x="978231" y="0"/>
                </a:lnTo>
                <a:lnTo>
                  <a:pt x="978231" y="1871960"/>
                </a:lnTo>
                <a:lnTo>
                  <a:pt x="0" y="18719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1128712" y="3834915"/>
            <a:ext cx="4795123" cy="686585"/>
          </a:xfrm>
          <a:prstGeom prst="rect">
            <a:avLst/>
          </a:prstGeom>
        </p:spPr>
        <p:txBody>
          <a:bodyPr lIns="0" tIns="0" rIns="0" bIns="0" rtlCol="0" anchor="t">
            <a:spAutoFit/>
          </a:bodyPr>
          <a:lstStyle/>
          <a:p>
            <a:pPr algn="ctr">
              <a:lnSpc>
                <a:spcPts val="4681"/>
              </a:lnSpc>
            </a:pPr>
            <a:r>
              <a:rPr lang="en-US" sz="3000" b="1">
                <a:solidFill>
                  <a:srgbClr val="000000"/>
                </a:solidFill>
                <a:latin typeface="Arimo Bold"/>
                <a:ea typeface="Arimo Bold"/>
                <a:cs typeface="Arimo Bold"/>
                <a:sym typeface="Arimo Bold"/>
              </a:rPr>
              <a:t>Scalable Infrastructure</a:t>
            </a:r>
          </a:p>
        </p:txBody>
      </p:sp>
      <p:sp>
        <p:nvSpPr>
          <p:cNvPr id="15" name="TextBox 15"/>
          <p:cNvSpPr txBox="1"/>
          <p:nvPr/>
        </p:nvSpPr>
        <p:spPr>
          <a:xfrm>
            <a:off x="1449328" y="4416489"/>
            <a:ext cx="14936955" cy="1339212"/>
          </a:xfrm>
          <a:prstGeom prst="rect">
            <a:avLst/>
          </a:prstGeom>
        </p:spPr>
        <p:txBody>
          <a:bodyPr lIns="0" tIns="0" rIns="0" bIns="0" rtlCol="0" anchor="t">
            <a:spAutoFit/>
          </a:bodyPr>
          <a:lstStyle/>
          <a:p>
            <a:pPr algn="just">
              <a:lnSpc>
                <a:spcPts val="2637"/>
              </a:lnSpc>
            </a:pPr>
            <a:r>
              <a:rPr lang="en-US" sz="2235">
                <a:solidFill>
                  <a:srgbClr val="000000"/>
                </a:solidFill>
                <a:latin typeface="Canva Sans"/>
                <a:ea typeface="Canva Sans"/>
                <a:cs typeface="Canva Sans"/>
                <a:sym typeface="Canva Sans"/>
              </a:rPr>
              <a:t>The cloud-based platform ensures that the converter can handle a high volume of users and conversions without experiencing performance issues. This scalability allows us to accommodate growing demand and provide a reliable service for all users.</a:t>
            </a:r>
          </a:p>
          <a:p>
            <a:pPr algn="just">
              <a:lnSpc>
                <a:spcPts val="2637"/>
              </a:lnSpc>
            </a:pPr>
            <a:endParaRPr lang="en-US" sz="2235">
              <a:solidFill>
                <a:srgbClr val="000000"/>
              </a:solidFill>
              <a:latin typeface="Canva Sans"/>
              <a:ea typeface="Canva Sans"/>
              <a:cs typeface="Canva Sans"/>
              <a:sym typeface="Canva Sans"/>
            </a:endParaRPr>
          </a:p>
        </p:txBody>
      </p:sp>
      <p:sp>
        <p:nvSpPr>
          <p:cNvPr id="16" name="TextBox 16"/>
          <p:cNvSpPr txBox="1"/>
          <p:nvPr/>
        </p:nvSpPr>
        <p:spPr>
          <a:xfrm>
            <a:off x="1128712" y="5593775"/>
            <a:ext cx="4842391" cy="686585"/>
          </a:xfrm>
          <a:prstGeom prst="rect">
            <a:avLst/>
          </a:prstGeom>
        </p:spPr>
        <p:txBody>
          <a:bodyPr lIns="0" tIns="0" rIns="0" bIns="0" rtlCol="0" anchor="t">
            <a:spAutoFit/>
          </a:bodyPr>
          <a:lstStyle/>
          <a:p>
            <a:pPr algn="ctr">
              <a:lnSpc>
                <a:spcPts val="4681"/>
              </a:lnSpc>
            </a:pPr>
            <a:r>
              <a:rPr lang="en-US" sz="3000" b="1">
                <a:solidFill>
                  <a:srgbClr val="000000"/>
                </a:solidFill>
                <a:latin typeface="Arimo Bold"/>
                <a:ea typeface="Arimo Bold"/>
                <a:cs typeface="Arimo Bold"/>
                <a:sym typeface="Arimo Bold"/>
              </a:rPr>
              <a:t>User-Friendly Interface</a:t>
            </a:r>
          </a:p>
        </p:txBody>
      </p:sp>
      <p:sp>
        <p:nvSpPr>
          <p:cNvPr id="17" name="TextBox 17"/>
          <p:cNvSpPr txBox="1"/>
          <p:nvPr/>
        </p:nvSpPr>
        <p:spPr>
          <a:xfrm>
            <a:off x="1449328" y="6165531"/>
            <a:ext cx="14936955" cy="1267592"/>
          </a:xfrm>
          <a:prstGeom prst="rect">
            <a:avLst/>
          </a:prstGeom>
        </p:spPr>
        <p:txBody>
          <a:bodyPr lIns="0" tIns="0" rIns="0" bIns="0" rtlCol="0" anchor="t">
            <a:spAutoFit/>
          </a:bodyPr>
          <a:lstStyle/>
          <a:p>
            <a:pPr algn="just">
              <a:lnSpc>
                <a:spcPts val="2525"/>
              </a:lnSpc>
            </a:pPr>
            <a:r>
              <a:rPr lang="en-US" sz="2235">
                <a:solidFill>
                  <a:srgbClr val="000000"/>
                </a:solidFill>
                <a:latin typeface="Canva Sans"/>
                <a:ea typeface="Canva Sans"/>
                <a:cs typeface="Canva Sans"/>
                <a:sym typeface="Canva Sans"/>
              </a:rPr>
              <a:t>The user interface is designed with a focus on simplicity and ease of use, making it accessible to users of all technical backgrounds. Users can easily upload their PDF files, select their preferred voice, and start the conversion process without any complicated steps.</a:t>
            </a:r>
          </a:p>
          <a:p>
            <a:pPr algn="just">
              <a:lnSpc>
                <a:spcPts val="2525"/>
              </a:lnSpc>
            </a:pPr>
            <a:endParaRPr lang="en-US" sz="2235">
              <a:solidFill>
                <a:srgbClr val="000000"/>
              </a:solidFill>
              <a:latin typeface="Canva Sans"/>
              <a:ea typeface="Canva Sans"/>
              <a:cs typeface="Canva Sans"/>
              <a:sym typeface="Canva Sans"/>
            </a:endParaRPr>
          </a:p>
        </p:txBody>
      </p:sp>
      <p:sp>
        <p:nvSpPr>
          <p:cNvPr id="18" name="TextBox 18"/>
          <p:cNvSpPr txBox="1"/>
          <p:nvPr/>
        </p:nvSpPr>
        <p:spPr>
          <a:xfrm>
            <a:off x="1240890" y="7081192"/>
            <a:ext cx="4238149" cy="686585"/>
          </a:xfrm>
          <a:prstGeom prst="rect">
            <a:avLst/>
          </a:prstGeom>
        </p:spPr>
        <p:txBody>
          <a:bodyPr lIns="0" tIns="0" rIns="0" bIns="0" rtlCol="0" anchor="t">
            <a:spAutoFit/>
          </a:bodyPr>
          <a:lstStyle/>
          <a:p>
            <a:pPr algn="ctr">
              <a:lnSpc>
                <a:spcPts val="4681"/>
              </a:lnSpc>
            </a:pPr>
            <a:r>
              <a:rPr lang="en-US" sz="3000" b="1">
                <a:solidFill>
                  <a:srgbClr val="000000"/>
                </a:solidFill>
                <a:latin typeface="Arimo Bold"/>
                <a:ea typeface="Arimo Bold"/>
                <a:cs typeface="Arimo Bold"/>
                <a:sym typeface="Arimo Bold"/>
              </a:rPr>
              <a:t>Secure Environment</a:t>
            </a:r>
          </a:p>
        </p:txBody>
      </p:sp>
      <p:sp>
        <p:nvSpPr>
          <p:cNvPr id="19" name="TextBox 19"/>
          <p:cNvSpPr txBox="1"/>
          <p:nvPr/>
        </p:nvSpPr>
        <p:spPr>
          <a:xfrm>
            <a:off x="1449328" y="7643559"/>
            <a:ext cx="14936955" cy="1267592"/>
          </a:xfrm>
          <a:prstGeom prst="rect">
            <a:avLst/>
          </a:prstGeom>
        </p:spPr>
        <p:txBody>
          <a:bodyPr lIns="0" tIns="0" rIns="0" bIns="0" rtlCol="0" anchor="t">
            <a:spAutoFit/>
          </a:bodyPr>
          <a:lstStyle/>
          <a:p>
            <a:pPr algn="just">
              <a:lnSpc>
                <a:spcPts val="2525"/>
              </a:lnSpc>
            </a:pPr>
            <a:r>
              <a:rPr lang="en-US" sz="2235">
                <a:solidFill>
                  <a:srgbClr val="000000"/>
                </a:solidFill>
                <a:latin typeface="Canva Sans"/>
                <a:ea typeface="Canva Sans"/>
                <a:cs typeface="Canva Sans"/>
                <a:sym typeface="Canva Sans"/>
              </a:rPr>
              <a:t>The cloud platform is secured with industry-standard protocols and practices, ensuring the safety and privacy of user data. All user data is encrypted and protected, providing a secure environment for users to convert their PDF files.</a:t>
            </a:r>
          </a:p>
          <a:p>
            <a:pPr algn="just">
              <a:lnSpc>
                <a:spcPts val="2525"/>
              </a:lnSpc>
            </a:pPr>
            <a:endParaRPr lang="en-US" sz="2235">
              <a:solidFill>
                <a:srgbClr val="000000"/>
              </a:solidFill>
              <a:latin typeface="Canva Sans"/>
              <a:ea typeface="Canva Sans"/>
              <a:cs typeface="Canva Sans"/>
              <a:sym typeface="Canva Sans"/>
            </a:endParaRPr>
          </a:p>
        </p:txBody>
      </p:sp>
      <p:sp>
        <p:nvSpPr>
          <p:cNvPr id="20" name="TextBox 20"/>
          <p:cNvSpPr txBox="1"/>
          <p:nvPr/>
        </p:nvSpPr>
        <p:spPr>
          <a:xfrm>
            <a:off x="607173" y="4700354"/>
            <a:ext cx="289203" cy="483174"/>
          </a:xfrm>
          <a:prstGeom prst="rect">
            <a:avLst/>
          </a:prstGeom>
        </p:spPr>
        <p:txBody>
          <a:bodyPr lIns="0" tIns="0" rIns="0" bIns="0" rtlCol="0" anchor="t">
            <a:spAutoFit/>
          </a:bodyPr>
          <a:lstStyle/>
          <a:p>
            <a:pPr algn="ctr">
              <a:lnSpc>
                <a:spcPts val="3821"/>
              </a:lnSpc>
              <a:spcBef>
                <a:spcPct val="0"/>
              </a:spcBef>
            </a:pPr>
            <a:r>
              <a:rPr lang="en-US" sz="2729" b="1">
                <a:solidFill>
                  <a:srgbClr val="000000"/>
                </a:solidFill>
                <a:latin typeface="Arimo Bold"/>
                <a:ea typeface="Arimo Bold"/>
                <a:cs typeface="Arimo Bold"/>
                <a:sym typeface="Arimo Bold"/>
              </a:rPr>
              <a:t>1.</a:t>
            </a:r>
          </a:p>
        </p:txBody>
      </p:sp>
      <p:sp>
        <p:nvSpPr>
          <p:cNvPr id="21" name="TextBox 21"/>
          <p:cNvSpPr txBox="1"/>
          <p:nvPr/>
        </p:nvSpPr>
        <p:spPr>
          <a:xfrm>
            <a:off x="607173" y="6349934"/>
            <a:ext cx="289203" cy="483174"/>
          </a:xfrm>
          <a:prstGeom prst="rect">
            <a:avLst/>
          </a:prstGeom>
        </p:spPr>
        <p:txBody>
          <a:bodyPr lIns="0" tIns="0" rIns="0" bIns="0" rtlCol="0" anchor="t">
            <a:spAutoFit/>
          </a:bodyPr>
          <a:lstStyle/>
          <a:p>
            <a:pPr algn="ctr">
              <a:lnSpc>
                <a:spcPts val="3821"/>
              </a:lnSpc>
              <a:spcBef>
                <a:spcPct val="0"/>
              </a:spcBef>
            </a:pPr>
            <a:r>
              <a:rPr lang="en-US" sz="2729" b="1">
                <a:solidFill>
                  <a:srgbClr val="000000"/>
                </a:solidFill>
                <a:latin typeface="Arimo Bold"/>
                <a:ea typeface="Arimo Bold"/>
                <a:cs typeface="Arimo Bold"/>
                <a:sym typeface="Arimo Bold"/>
              </a:rPr>
              <a:t>2.</a:t>
            </a:r>
          </a:p>
        </p:txBody>
      </p:sp>
      <p:sp>
        <p:nvSpPr>
          <p:cNvPr id="22" name="TextBox 22"/>
          <p:cNvSpPr txBox="1"/>
          <p:nvPr/>
        </p:nvSpPr>
        <p:spPr>
          <a:xfrm>
            <a:off x="607173" y="7969888"/>
            <a:ext cx="289203" cy="483174"/>
          </a:xfrm>
          <a:prstGeom prst="rect">
            <a:avLst/>
          </a:prstGeom>
        </p:spPr>
        <p:txBody>
          <a:bodyPr lIns="0" tIns="0" rIns="0" bIns="0" rtlCol="0" anchor="t">
            <a:spAutoFit/>
          </a:bodyPr>
          <a:lstStyle/>
          <a:p>
            <a:pPr algn="ctr">
              <a:lnSpc>
                <a:spcPts val="3821"/>
              </a:lnSpc>
              <a:spcBef>
                <a:spcPct val="0"/>
              </a:spcBef>
            </a:pPr>
            <a:r>
              <a:rPr lang="en-US" sz="2729" b="1">
                <a:solidFill>
                  <a:srgbClr val="000000"/>
                </a:solidFill>
                <a:latin typeface="Arimo Bold"/>
                <a:ea typeface="Arimo Bold"/>
                <a:cs typeface="Arimo Bold"/>
                <a:sym typeface="Arimo Bold"/>
              </a:rPr>
              <a:t>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2257414" y="-27086"/>
            <a:ext cx="16030576" cy="2233339"/>
            <a:chOff x="0" y="0"/>
            <a:chExt cx="21374102" cy="2977786"/>
          </a:xfrm>
        </p:grpSpPr>
        <p:sp>
          <p:nvSpPr>
            <p:cNvPr id="3" name="Freeform 3"/>
            <p:cNvSpPr/>
            <p:nvPr/>
          </p:nvSpPr>
          <p:spPr>
            <a:xfrm>
              <a:off x="0" y="0"/>
              <a:ext cx="21374100" cy="2977698"/>
            </a:xfrm>
            <a:custGeom>
              <a:avLst/>
              <a:gdLst/>
              <a:ahLst/>
              <a:cxnLst/>
              <a:rect l="l" t="t" r="r" b="b"/>
              <a:pathLst>
                <a:path w="21374100" h="2977698">
                  <a:moveTo>
                    <a:pt x="0" y="0"/>
                  </a:moveTo>
                  <a:lnTo>
                    <a:pt x="21374100" y="0"/>
                  </a:lnTo>
                  <a:lnTo>
                    <a:pt x="21374100" y="2977698"/>
                  </a:lnTo>
                  <a:lnTo>
                    <a:pt x="0" y="2977698"/>
                  </a:lnTo>
                  <a:close/>
                </a:path>
              </a:pathLst>
            </a:custGeom>
            <a:solidFill>
              <a:srgbClr val="C00000"/>
            </a:solidFill>
          </p:spPr>
        </p:sp>
      </p:grpSp>
      <p:grpSp>
        <p:nvGrpSpPr>
          <p:cNvPr id="4" name="Group 4"/>
          <p:cNvGrpSpPr/>
          <p:nvPr/>
        </p:nvGrpSpPr>
        <p:grpSpPr>
          <a:xfrm>
            <a:off x="-5" y="9465899"/>
            <a:ext cx="18287996" cy="1783789"/>
            <a:chOff x="0" y="0"/>
            <a:chExt cx="24383994" cy="2378386"/>
          </a:xfrm>
        </p:grpSpPr>
        <p:sp>
          <p:nvSpPr>
            <p:cNvPr id="5" name="Freeform 5"/>
            <p:cNvSpPr/>
            <p:nvPr/>
          </p:nvSpPr>
          <p:spPr>
            <a:xfrm>
              <a:off x="0" y="0"/>
              <a:ext cx="24384000" cy="2378282"/>
            </a:xfrm>
            <a:custGeom>
              <a:avLst/>
              <a:gdLst/>
              <a:ahLst/>
              <a:cxnLst/>
              <a:rect l="l" t="t" r="r" b="b"/>
              <a:pathLst>
                <a:path w="24384000" h="2378282">
                  <a:moveTo>
                    <a:pt x="0" y="0"/>
                  </a:moveTo>
                  <a:lnTo>
                    <a:pt x="24384000" y="0"/>
                  </a:lnTo>
                  <a:lnTo>
                    <a:pt x="24384000" y="2378282"/>
                  </a:lnTo>
                  <a:lnTo>
                    <a:pt x="0" y="2378282"/>
                  </a:lnTo>
                  <a:close/>
                </a:path>
              </a:pathLst>
            </a:custGeom>
            <a:solidFill>
              <a:srgbClr val="C00000"/>
            </a:solidFill>
          </p:spPr>
        </p:sp>
        <p:sp>
          <p:nvSpPr>
            <p:cNvPr id="6" name="TextBox 6"/>
            <p:cNvSpPr txBox="1"/>
            <p:nvPr/>
          </p:nvSpPr>
          <p:spPr>
            <a:xfrm>
              <a:off x="0" y="47625"/>
              <a:ext cx="24383994" cy="2330761"/>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7" name="Freeform 7" descr="https://galgotiacollege.edu/public/uploads/all/3106/phelosophy.jpeg"/>
          <p:cNvSpPr/>
          <p:nvPr/>
        </p:nvSpPr>
        <p:spPr>
          <a:xfrm>
            <a:off x="0" y="-24680"/>
            <a:ext cx="2257424" cy="2230933"/>
          </a:xfrm>
          <a:custGeom>
            <a:avLst/>
            <a:gdLst/>
            <a:ahLst/>
            <a:cxnLst/>
            <a:rect l="l" t="t" r="r" b="b"/>
            <a:pathLst>
              <a:path w="2257424" h="2230933">
                <a:moveTo>
                  <a:pt x="0" y="0"/>
                </a:moveTo>
                <a:lnTo>
                  <a:pt x="2257424" y="0"/>
                </a:lnTo>
                <a:lnTo>
                  <a:pt x="2257424" y="2230934"/>
                </a:lnTo>
                <a:lnTo>
                  <a:pt x="0" y="2230934"/>
                </a:lnTo>
                <a:lnTo>
                  <a:pt x="0" y="0"/>
                </a:lnTo>
                <a:close/>
              </a:path>
            </a:pathLst>
          </a:custGeom>
          <a:blipFill>
            <a:blip r:embed="rId2"/>
            <a:stretch>
              <a:fillRect b="-671"/>
            </a:stretch>
          </a:blipFill>
        </p:spPr>
      </p:sp>
      <p:sp>
        <p:nvSpPr>
          <p:cNvPr id="8" name="TextBox 8"/>
          <p:cNvSpPr txBox="1"/>
          <p:nvPr/>
        </p:nvSpPr>
        <p:spPr>
          <a:xfrm>
            <a:off x="3440300" y="-114300"/>
            <a:ext cx="13360360" cy="3039897"/>
          </a:xfrm>
          <a:prstGeom prst="rect">
            <a:avLst/>
          </a:prstGeom>
        </p:spPr>
        <p:txBody>
          <a:bodyPr lIns="0" tIns="0" rIns="0" bIns="0" rtlCol="0" anchor="t">
            <a:spAutoFit/>
          </a:bodyPr>
          <a:lstStyle/>
          <a:p>
            <a:pPr algn="ctr">
              <a:lnSpc>
                <a:spcPts val="8740"/>
              </a:lnSpc>
            </a:pPr>
            <a:r>
              <a:rPr lang="en-US" sz="6244">
                <a:solidFill>
                  <a:srgbClr val="E6E8DA"/>
                </a:solidFill>
                <a:latin typeface="Anton"/>
                <a:ea typeface="Anton"/>
                <a:cs typeface="Anton"/>
                <a:sym typeface="Anton"/>
              </a:rPr>
              <a:t>Impact &amp; Benefits: Empowering Users and </a:t>
            </a:r>
          </a:p>
          <a:p>
            <a:pPr algn="ctr">
              <a:lnSpc>
                <a:spcPts val="8740"/>
              </a:lnSpc>
            </a:pPr>
            <a:r>
              <a:rPr lang="en-US" sz="6244">
                <a:solidFill>
                  <a:srgbClr val="E6E8DA"/>
                </a:solidFill>
                <a:latin typeface="Anton"/>
                <a:ea typeface="Anton"/>
                <a:cs typeface="Anton"/>
                <a:sym typeface="Anton"/>
              </a:rPr>
              <a:t>Transforming Learning</a:t>
            </a:r>
          </a:p>
          <a:p>
            <a:pPr algn="ctr">
              <a:lnSpc>
                <a:spcPts val="5801"/>
              </a:lnSpc>
            </a:pPr>
            <a:endParaRPr lang="en-US" sz="6244">
              <a:solidFill>
                <a:srgbClr val="E6E8DA"/>
              </a:solidFill>
              <a:latin typeface="Anton"/>
              <a:ea typeface="Anton"/>
              <a:cs typeface="Anton"/>
              <a:sym typeface="Anton"/>
            </a:endParaRPr>
          </a:p>
        </p:txBody>
      </p:sp>
      <p:sp>
        <p:nvSpPr>
          <p:cNvPr id="9" name="Freeform 9"/>
          <p:cNvSpPr/>
          <p:nvPr/>
        </p:nvSpPr>
        <p:spPr>
          <a:xfrm>
            <a:off x="1128712" y="2355181"/>
            <a:ext cx="16230600" cy="1861399"/>
          </a:xfrm>
          <a:custGeom>
            <a:avLst/>
            <a:gdLst/>
            <a:ahLst/>
            <a:cxnLst/>
            <a:rect l="l" t="t" r="r" b="b"/>
            <a:pathLst>
              <a:path w="16230600" h="1861399">
                <a:moveTo>
                  <a:pt x="0" y="0"/>
                </a:moveTo>
                <a:lnTo>
                  <a:pt x="16230600" y="0"/>
                </a:lnTo>
                <a:lnTo>
                  <a:pt x="16230600" y="1861399"/>
                </a:lnTo>
                <a:lnTo>
                  <a:pt x="0" y="18613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28712" y="4035754"/>
            <a:ext cx="16230600" cy="1861399"/>
          </a:xfrm>
          <a:custGeom>
            <a:avLst/>
            <a:gdLst/>
            <a:ahLst/>
            <a:cxnLst/>
            <a:rect l="l" t="t" r="r" b="b"/>
            <a:pathLst>
              <a:path w="16230600" h="1861399">
                <a:moveTo>
                  <a:pt x="0" y="0"/>
                </a:moveTo>
                <a:lnTo>
                  <a:pt x="16230600" y="0"/>
                </a:lnTo>
                <a:lnTo>
                  <a:pt x="16230600" y="1861399"/>
                </a:lnTo>
                <a:lnTo>
                  <a:pt x="0" y="186139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128712" y="5716328"/>
            <a:ext cx="16230600" cy="1861399"/>
          </a:xfrm>
          <a:custGeom>
            <a:avLst/>
            <a:gdLst/>
            <a:ahLst/>
            <a:cxnLst/>
            <a:rect l="l" t="t" r="r" b="b"/>
            <a:pathLst>
              <a:path w="16230600" h="1861399">
                <a:moveTo>
                  <a:pt x="0" y="0"/>
                </a:moveTo>
                <a:lnTo>
                  <a:pt x="16230600" y="0"/>
                </a:lnTo>
                <a:lnTo>
                  <a:pt x="16230600" y="1861399"/>
                </a:lnTo>
                <a:lnTo>
                  <a:pt x="0" y="18613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128712" y="7398232"/>
            <a:ext cx="16230600" cy="1861399"/>
          </a:xfrm>
          <a:custGeom>
            <a:avLst/>
            <a:gdLst/>
            <a:ahLst/>
            <a:cxnLst/>
            <a:rect l="l" t="t" r="r" b="b"/>
            <a:pathLst>
              <a:path w="16230600" h="1861399">
                <a:moveTo>
                  <a:pt x="0" y="0"/>
                </a:moveTo>
                <a:lnTo>
                  <a:pt x="16230600" y="0"/>
                </a:lnTo>
                <a:lnTo>
                  <a:pt x="16230600" y="1861400"/>
                </a:lnTo>
                <a:lnTo>
                  <a:pt x="0" y="18614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3" name="TextBox 13"/>
          <p:cNvSpPr txBox="1"/>
          <p:nvPr/>
        </p:nvSpPr>
        <p:spPr>
          <a:xfrm>
            <a:off x="1427553" y="3025864"/>
            <a:ext cx="4777084" cy="607060"/>
          </a:xfrm>
          <a:prstGeom prst="rect">
            <a:avLst/>
          </a:prstGeom>
        </p:spPr>
        <p:txBody>
          <a:bodyPr lIns="0" tIns="0" rIns="0" bIns="0" rtlCol="0" anchor="t">
            <a:spAutoFit/>
          </a:bodyPr>
          <a:lstStyle/>
          <a:p>
            <a:pPr algn="ctr">
              <a:lnSpc>
                <a:spcPts val="4339"/>
              </a:lnSpc>
            </a:pPr>
            <a:r>
              <a:rPr lang="en-US" sz="3099" b="1">
                <a:solidFill>
                  <a:srgbClr val="000000"/>
                </a:solidFill>
                <a:latin typeface="Arimo Bold"/>
                <a:ea typeface="Arimo Bold"/>
                <a:cs typeface="Arimo Bold"/>
                <a:sym typeface="Arimo Bold"/>
              </a:rPr>
              <a:t>Enhanced Accessibility</a:t>
            </a:r>
          </a:p>
        </p:txBody>
      </p:sp>
      <p:sp>
        <p:nvSpPr>
          <p:cNvPr id="14" name="TextBox 14"/>
          <p:cNvSpPr txBox="1"/>
          <p:nvPr/>
        </p:nvSpPr>
        <p:spPr>
          <a:xfrm>
            <a:off x="10857579" y="2631412"/>
            <a:ext cx="6202891" cy="1689943"/>
          </a:xfrm>
          <a:prstGeom prst="rect">
            <a:avLst/>
          </a:prstGeom>
        </p:spPr>
        <p:txBody>
          <a:bodyPr lIns="0" tIns="0" rIns="0" bIns="0" rtlCol="0" anchor="t">
            <a:spAutoFit/>
          </a:bodyPr>
          <a:lstStyle/>
          <a:p>
            <a:pPr algn="ctr">
              <a:lnSpc>
                <a:spcPts val="3463"/>
              </a:lnSpc>
            </a:pPr>
            <a:r>
              <a:rPr lang="en-US" sz="2474">
                <a:solidFill>
                  <a:srgbClr val="000000"/>
                </a:solidFill>
                <a:latin typeface="Comic Sans"/>
                <a:ea typeface="Comic Sans"/>
                <a:cs typeface="Comic Sans"/>
                <a:sym typeface="Comic Sans"/>
              </a:rPr>
              <a:t>Provides individuals with visual impairments access to a wider range of information and educational resources.</a:t>
            </a:r>
          </a:p>
          <a:p>
            <a:pPr algn="ctr">
              <a:lnSpc>
                <a:spcPts val="1432"/>
              </a:lnSpc>
            </a:pPr>
            <a:endParaRPr lang="en-US" sz="2474">
              <a:solidFill>
                <a:srgbClr val="000000"/>
              </a:solidFill>
              <a:latin typeface="Comic Sans"/>
              <a:ea typeface="Comic Sans"/>
              <a:cs typeface="Comic Sans"/>
              <a:sym typeface="Comic Sans"/>
            </a:endParaRPr>
          </a:p>
          <a:p>
            <a:pPr algn="ctr">
              <a:lnSpc>
                <a:spcPts val="1432"/>
              </a:lnSpc>
            </a:pPr>
            <a:endParaRPr lang="en-US" sz="2474">
              <a:solidFill>
                <a:srgbClr val="000000"/>
              </a:solidFill>
              <a:latin typeface="Comic Sans"/>
              <a:ea typeface="Comic Sans"/>
              <a:cs typeface="Comic Sans"/>
              <a:sym typeface="Comic Sans"/>
            </a:endParaRPr>
          </a:p>
        </p:txBody>
      </p:sp>
      <p:sp>
        <p:nvSpPr>
          <p:cNvPr id="15" name="TextBox 15"/>
          <p:cNvSpPr txBox="1"/>
          <p:nvPr/>
        </p:nvSpPr>
        <p:spPr>
          <a:xfrm>
            <a:off x="1427553" y="4775363"/>
            <a:ext cx="5976004" cy="607060"/>
          </a:xfrm>
          <a:prstGeom prst="rect">
            <a:avLst/>
          </a:prstGeom>
        </p:spPr>
        <p:txBody>
          <a:bodyPr lIns="0" tIns="0" rIns="0" bIns="0" rtlCol="0" anchor="t">
            <a:spAutoFit/>
          </a:bodyPr>
          <a:lstStyle/>
          <a:p>
            <a:pPr algn="ctr">
              <a:lnSpc>
                <a:spcPts val="4339"/>
              </a:lnSpc>
            </a:pPr>
            <a:r>
              <a:rPr lang="en-US" sz="3099" b="1">
                <a:solidFill>
                  <a:srgbClr val="000000"/>
                </a:solidFill>
                <a:latin typeface="Arimo Bold"/>
                <a:ea typeface="Arimo Bold"/>
                <a:cs typeface="Arimo Bold"/>
                <a:sym typeface="Arimo Bold"/>
              </a:rPr>
              <a:t>Improved Learning Outcomes</a:t>
            </a:r>
          </a:p>
        </p:txBody>
      </p:sp>
      <p:sp>
        <p:nvSpPr>
          <p:cNvPr id="16" name="TextBox 16"/>
          <p:cNvSpPr txBox="1"/>
          <p:nvPr/>
        </p:nvSpPr>
        <p:spPr>
          <a:xfrm>
            <a:off x="10857579" y="4286642"/>
            <a:ext cx="6202891" cy="1739689"/>
          </a:xfrm>
          <a:prstGeom prst="rect">
            <a:avLst/>
          </a:prstGeom>
        </p:spPr>
        <p:txBody>
          <a:bodyPr lIns="0" tIns="0" rIns="0" bIns="0" rtlCol="0" anchor="t">
            <a:spAutoFit/>
          </a:bodyPr>
          <a:lstStyle/>
          <a:p>
            <a:pPr algn="ctr">
              <a:lnSpc>
                <a:spcPts val="3117"/>
              </a:lnSpc>
            </a:pPr>
            <a:r>
              <a:rPr lang="en-US" sz="2474">
                <a:solidFill>
                  <a:srgbClr val="000000"/>
                </a:solidFill>
                <a:latin typeface="Comic Sans"/>
                <a:ea typeface="Comic Sans"/>
                <a:cs typeface="Comic Sans"/>
                <a:sym typeface="Comic Sans"/>
              </a:rPr>
              <a:t>Offers a more engaging and immersive learning experience, catering to diverse learning styles and improving comprehension and retention.</a:t>
            </a:r>
          </a:p>
          <a:p>
            <a:pPr algn="ctr">
              <a:lnSpc>
                <a:spcPts val="1432"/>
              </a:lnSpc>
            </a:pPr>
            <a:endParaRPr lang="en-US" sz="2474">
              <a:solidFill>
                <a:srgbClr val="000000"/>
              </a:solidFill>
              <a:latin typeface="Comic Sans"/>
              <a:ea typeface="Comic Sans"/>
              <a:cs typeface="Comic Sans"/>
              <a:sym typeface="Comic Sans"/>
            </a:endParaRPr>
          </a:p>
        </p:txBody>
      </p:sp>
      <p:sp>
        <p:nvSpPr>
          <p:cNvPr id="17" name="TextBox 17"/>
          <p:cNvSpPr txBox="1"/>
          <p:nvPr/>
        </p:nvSpPr>
        <p:spPr>
          <a:xfrm>
            <a:off x="1427553" y="6305397"/>
            <a:ext cx="4777084" cy="540360"/>
          </a:xfrm>
          <a:prstGeom prst="rect">
            <a:avLst/>
          </a:prstGeom>
        </p:spPr>
        <p:txBody>
          <a:bodyPr lIns="0" tIns="0" rIns="0" bIns="0" rtlCol="0" anchor="t">
            <a:spAutoFit/>
          </a:bodyPr>
          <a:lstStyle/>
          <a:p>
            <a:pPr algn="ctr">
              <a:lnSpc>
                <a:spcPts val="4339"/>
              </a:lnSpc>
            </a:pPr>
            <a:r>
              <a:rPr lang="en-US" sz="3099" b="1">
                <a:solidFill>
                  <a:srgbClr val="000000"/>
                </a:solidFill>
                <a:latin typeface="Arimo Bold"/>
                <a:ea typeface="Arimo Bold"/>
                <a:cs typeface="Arimo Bold"/>
                <a:sym typeface="Arimo Bold"/>
              </a:rPr>
              <a:t>Increased Productivity</a:t>
            </a:r>
          </a:p>
        </p:txBody>
      </p:sp>
      <p:sp>
        <p:nvSpPr>
          <p:cNvPr id="18" name="TextBox 18"/>
          <p:cNvSpPr txBox="1"/>
          <p:nvPr/>
        </p:nvSpPr>
        <p:spPr>
          <a:xfrm>
            <a:off x="10857579" y="6039466"/>
            <a:ext cx="6202891" cy="1512281"/>
          </a:xfrm>
          <a:prstGeom prst="rect">
            <a:avLst/>
          </a:prstGeom>
        </p:spPr>
        <p:txBody>
          <a:bodyPr lIns="0" tIns="0" rIns="0" bIns="0" rtlCol="0" anchor="t">
            <a:spAutoFit/>
          </a:bodyPr>
          <a:lstStyle/>
          <a:p>
            <a:pPr algn="ctr">
              <a:lnSpc>
                <a:spcPts val="3463"/>
              </a:lnSpc>
            </a:pPr>
            <a:r>
              <a:rPr lang="en-US" sz="2474">
                <a:solidFill>
                  <a:srgbClr val="000000"/>
                </a:solidFill>
                <a:latin typeface="Comic Sans"/>
                <a:ea typeface="Comic Sans"/>
                <a:cs typeface="Comic Sans"/>
                <a:sym typeface="Comic Sans"/>
              </a:rPr>
              <a:t>Allows users to consume information and complete tasks more efficiently, freeing up time for other activities.</a:t>
            </a:r>
          </a:p>
          <a:p>
            <a:pPr algn="ctr">
              <a:lnSpc>
                <a:spcPts val="1432"/>
              </a:lnSpc>
            </a:pPr>
            <a:endParaRPr lang="en-US" sz="2474">
              <a:solidFill>
                <a:srgbClr val="000000"/>
              </a:solidFill>
              <a:latin typeface="Comic Sans"/>
              <a:ea typeface="Comic Sans"/>
              <a:cs typeface="Comic Sans"/>
              <a:sym typeface="Comic Sans"/>
            </a:endParaRPr>
          </a:p>
        </p:txBody>
      </p:sp>
      <p:sp>
        <p:nvSpPr>
          <p:cNvPr id="19" name="TextBox 19"/>
          <p:cNvSpPr txBox="1"/>
          <p:nvPr/>
        </p:nvSpPr>
        <p:spPr>
          <a:xfrm>
            <a:off x="1128712" y="7985970"/>
            <a:ext cx="4777084" cy="607060"/>
          </a:xfrm>
          <a:prstGeom prst="rect">
            <a:avLst/>
          </a:prstGeom>
        </p:spPr>
        <p:txBody>
          <a:bodyPr lIns="0" tIns="0" rIns="0" bIns="0" rtlCol="0" anchor="t">
            <a:spAutoFit/>
          </a:bodyPr>
          <a:lstStyle/>
          <a:p>
            <a:pPr algn="ctr">
              <a:lnSpc>
                <a:spcPts val="4339"/>
              </a:lnSpc>
            </a:pPr>
            <a:r>
              <a:rPr lang="en-US" sz="3099" b="1">
                <a:solidFill>
                  <a:srgbClr val="000000"/>
                </a:solidFill>
                <a:latin typeface="Arimo Bold"/>
                <a:ea typeface="Arimo Bold"/>
                <a:cs typeface="Arimo Bold"/>
                <a:sym typeface="Arimo Bold"/>
              </a:rPr>
              <a:t>Boosted Engagement</a:t>
            </a:r>
          </a:p>
        </p:txBody>
      </p:sp>
      <p:sp>
        <p:nvSpPr>
          <p:cNvPr id="20" name="TextBox 20"/>
          <p:cNvSpPr txBox="1"/>
          <p:nvPr/>
        </p:nvSpPr>
        <p:spPr>
          <a:xfrm>
            <a:off x="10597769" y="7768227"/>
            <a:ext cx="6202891" cy="1621472"/>
          </a:xfrm>
          <a:prstGeom prst="rect">
            <a:avLst/>
          </a:prstGeom>
        </p:spPr>
        <p:txBody>
          <a:bodyPr lIns="0" tIns="0" rIns="0" bIns="0" rtlCol="0" anchor="t">
            <a:spAutoFit/>
          </a:bodyPr>
          <a:lstStyle/>
          <a:p>
            <a:pPr algn="ctr">
              <a:lnSpc>
                <a:spcPts val="2945"/>
              </a:lnSpc>
            </a:pPr>
            <a:r>
              <a:rPr lang="en-US" sz="2474">
                <a:solidFill>
                  <a:srgbClr val="000000"/>
                </a:solidFill>
                <a:latin typeface="Comic Sans"/>
                <a:ea typeface="Comic Sans"/>
                <a:cs typeface="Comic Sans"/>
                <a:sym typeface="Comic Sans"/>
              </a:rPr>
              <a:t>Makes learning more enjoyable and engaging, encouraging users to explore new topics and expand their knowledge base.</a:t>
            </a:r>
          </a:p>
          <a:p>
            <a:pPr algn="ctr">
              <a:lnSpc>
                <a:spcPts val="1237"/>
              </a:lnSpc>
            </a:pPr>
            <a:endParaRPr lang="en-US" sz="2474">
              <a:solidFill>
                <a:srgbClr val="000000"/>
              </a:solidFill>
              <a:latin typeface="Comic Sans"/>
              <a:ea typeface="Comic Sans"/>
              <a:cs typeface="Comic Sans"/>
              <a:sym typeface="Comic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grpSp>
        <p:nvGrpSpPr>
          <p:cNvPr id="2" name="Group 2"/>
          <p:cNvGrpSpPr/>
          <p:nvPr/>
        </p:nvGrpSpPr>
        <p:grpSpPr>
          <a:xfrm>
            <a:off x="2257414" y="-27086"/>
            <a:ext cx="16030576" cy="2129975"/>
            <a:chOff x="0" y="0"/>
            <a:chExt cx="21374102" cy="2839967"/>
          </a:xfrm>
        </p:grpSpPr>
        <p:sp>
          <p:nvSpPr>
            <p:cNvPr id="3" name="Freeform 3"/>
            <p:cNvSpPr/>
            <p:nvPr/>
          </p:nvSpPr>
          <p:spPr>
            <a:xfrm>
              <a:off x="0" y="0"/>
              <a:ext cx="21374100" cy="2839883"/>
            </a:xfrm>
            <a:custGeom>
              <a:avLst/>
              <a:gdLst/>
              <a:ahLst/>
              <a:cxnLst/>
              <a:rect l="l" t="t" r="r" b="b"/>
              <a:pathLst>
                <a:path w="21374100" h="2839883">
                  <a:moveTo>
                    <a:pt x="0" y="0"/>
                  </a:moveTo>
                  <a:lnTo>
                    <a:pt x="21374100" y="0"/>
                  </a:lnTo>
                  <a:lnTo>
                    <a:pt x="21374100" y="2839883"/>
                  </a:lnTo>
                  <a:lnTo>
                    <a:pt x="0" y="2839883"/>
                  </a:lnTo>
                  <a:close/>
                </a:path>
              </a:pathLst>
            </a:custGeom>
            <a:solidFill>
              <a:srgbClr val="C00000"/>
            </a:solidFill>
          </p:spPr>
        </p:sp>
      </p:grpSp>
      <p:grpSp>
        <p:nvGrpSpPr>
          <p:cNvPr id="4" name="Group 4"/>
          <p:cNvGrpSpPr/>
          <p:nvPr/>
        </p:nvGrpSpPr>
        <p:grpSpPr>
          <a:xfrm>
            <a:off x="-5" y="9402508"/>
            <a:ext cx="18287996" cy="1768983"/>
            <a:chOff x="0" y="0"/>
            <a:chExt cx="24383994" cy="2358644"/>
          </a:xfrm>
        </p:grpSpPr>
        <p:sp>
          <p:nvSpPr>
            <p:cNvPr id="5" name="Freeform 5"/>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6" name="TextBox 6"/>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7" name="TextBox 7"/>
          <p:cNvSpPr txBox="1"/>
          <p:nvPr/>
        </p:nvSpPr>
        <p:spPr>
          <a:xfrm>
            <a:off x="2348854" y="1525362"/>
            <a:ext cx="14201781" cy="1155055"/>
          </a:xfrm>
          <a:prstGeom prst="rect">
            <a:avLst/>
          </a:prstGeom>
        </p:spPr>
        <p:txBody>
          <a:bodyPr lIns="0" tIns="0" rIns="0" bIns="0" rtlCol="0" anchor="t">
            <a:spAutoFit/>
          </a:bodyPr>
          <a:lstStyle/>
          <a:p>
            <a:pPr algn="l">
              <a:lnSpc>
                <a:spcPts val="4320"/>
              </a:lnSpc>
            </a:pPr>
            <a:endParaRPr/>
          </a:p>
          <a:p>
            <a:pPr algn="ctr">
              <a:lnSpc>
                <a:spcPts val="4320"/>
              </a:lnSpc>
            </a:pPr>
            <a:r>
              <a:rPr lang="en-US" sz="3600" b="1" spc="33">
                <a:solidFill>
                  <a:srgbClr val="000000"/>
                </a:solidFill>
                <a:latin typeface="TT Rounds Condensed Bold"/>
                <a:ea typeface="TT Rounds Condensed Bold"/>
                <a:cs typeface="TT Rounds Condensed Bold"/>
                <a:sym typeface="TT Rounds Condensed Bold"/>
              </a:rPr>
              <a:t> </a:t>
            </a:r>
          </a:p>
        </p:txBody>
      </p:sp>
      <p:sp>
        <p:nvSpPr>
          <p:cNvPr id="8" name="Freeform 8" descr="https://galgotiacollege.edu/public/uploads/all/3106/phelosophy.jpeg"/>
          <p:cNvSpPr/>
          <p:nvPr/>
        </p:nvSpPr>
        <p:spPr>
          <a:xfrm>
            <a:off x="0" y="-24680"/>
            <a:ext cx="2257424" cy="2127569"/>
          </a:xfrm>
          <a:custGeom>
            <a:avLst/>
            <a:gdLst/>
            <a:ahLst/>
            <a:cxnLst/>
            <a:rect l="l" t="t" r="r" b="b"/>
            <a:pathLst>
              <a:path w="2257424" h="2127569">
                <a:moveTo>
                  <a:pt x="0" y="0"/>
                </a:moveTo>
                <a:lnTo>
                  <a:pt x="2257424" y="0"/>
                </a:lnTo>
                <a:lnTo>
                  <a:pt x="2257424" y="2127570"/>
                </a:lnTo>
                <a:lnTo>
                  <a:pt x="0" y="2127570"/>
                </a:lnTo>
                <a:lnTo>
                  <a:pt x="0" y="0"/>
                </a:lnTo>
                <a:close/>
              </a:path>
            </a:pathLst>
          </a:custGeom>
          <a:blipFill>
            <a:blip r:embed="rId2"/>
            <a:stretch>
              <a:fillRect b="-5562"/>
            </a:stretch>
          </a:blipFill>
        </p:spPr>
      </p:sp>
      <p:sp>
        <p:nvSpPr>
          <p:cNvPr id="9" name="TextBox 9"/>
          <p:cNvSpPr txBox="1"/>
          <p:nvPr/>
        </p:nvSpPr>
        <p:spPr>
          <a:xfrm>
            <a:off x="4020574" y="290225"/>
            <a:ext cx="10858342" cy="1560020"/>
          </a:xfrm>
          <a:prstGeom prst="rect">
            <a:avLst/>
          </a:prstGeom>
        </p:spPr>
        <p:txBody>
          <a:bodyPr lIns="0" tIns="0" rIns="0" bIns="0" rtlCol="0" anchor="t">
            <a:spAutoFit/>
          </a:bodyPr>
          <a:lstStyle/>
          <a:p>
            <a:pPr algn="ctr">
              <a:lnSpc>
                <a:spcPts val="12715"/>
              </a:lnSpc>
            </a:pPr>
            <a:r>
              <a:rPr lang="en-US" sz="9082">
                <a:solidFill>
                  <a:srgbClr val="000000"/>
                </a:solidFill>
                <a:latin typeface="Anton"/>
                <a:ea typeface="Anton"/>
                <a:cs typeface="Anton"/>
                <a:sym typeface="Anton"/>
              </a:rPr>
              <a:t>SUSTAINABILTY GOAL</a:t>
            </a:r>
          </a:p>
        </p:txBody>
      </p:sp>
      <p:sp>
        <p:nvSpPr>
          <p:cNvPr id="10" name="TextBox 10"/>
          <p:cNvSpPr txBox="1"/>
          <p:nvPr/>
        </p:nvSpPr>
        <p:spPr>
          <a:xfrm>
            <a:off x="1893667" y="2680418"/>
            <a:ext cx="14500666" cy="5268949"/>
          </a:xfrm>
          <a:prstGeom prst="rect">
            <a:avLst/>
          </a:prstGeom>
        </p:spPr>
        <p:txBody>
          <a:bodyPr lIns="0" tIns="0" rIns="0" bIns="0" rtlCol="0" anchor="t">
            <a:spAutoFit/>
          </a:bodyPr>
          <a:lstStyle/>
          <a:p>
            <a:pPr algn="ctr">
              <a:lnSpc>
                <a:spcPts val="5221"/>
              </a:lnSpc>
            </a:pPr>
            <a:r>
              <a:rPr lang="en-US" sz="4424">
                <a:solidFill>
                  <a:srgbClr val="000000"/>
                </a:solidFill>
                <a:latin typeface="Canva Sans"/>
                <a:ea typeface="Canva Sans"/>
                <a:cs typeface="Canva Sans"/>
                <a:sym typeface="Canva Sans"/>
              </a:rPr>
              <a:t>To enhance accessibility to information while minimizing paper use and promoting digital consumption by converting PDFs into eco-friendly audiobooks, reducing environmental impact and supporting inclusive education for all."</a:t>
            </a:r>
          </a:p>
          <a:p>
            <a:pPr algn="ctr">
              <a:lnSpc>
                <a:spcPts val="5221"/>
              </a:lnSpc>
            </a:pPr>
            <a:r>
              <a:rPr lang="en-US" sz="4424">
                <a:solidFill>
                  <a:srgbClr val="000000"/>
                </a:solidFill>
                <a:latin typeface="Canva Sans"/>
                <a:ea typeface="Canva Sans"/>
                <a:cs typeface="Canva Sans"/>
                <a:sym typeface="Canva Sans"/>
              </a:rPr>
              <a:t>This goal aligns with both environmental and social sustainability, ensuring access to information without the need for physical resources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descr="https://galgotiacollege.edu/public/uploads/all/3106/phelosophy.jpeg"/>
          <p:cNvSpPr/>
          <p:nvPr/>
        </p:nvSpPr>
        <p:spPr>
          <a:xfrm>
            <a:off x="0" y="-24680"/>
            <a:ext cx="2257424" cy="2127569"/>
          </a:xfrm>
          <a:custGeom>
            <a:avLst/>
            <a:gdLst/>
            <a:ahLst/>
            <a:cxnLst/>
            <a:rect l="l" t="t" r="r" b="b"/>
            <a:pathLst>
              <a:path w="2257424" h="2127569">
                <a:moveTo>
                  <a:pt x="0" y="0"/>
                </a:moveTo>
                <a:lnTo>
                  <a:pt x="2257424" y="0"/>
                </a:lnTo>
                <a:lnTo>
                  <a:pt x="2257424" y="2127570"/>
                </a:lnTo>
                <a:lnTo>
                  <a:pt x="0" y="2127570"/>
                </a:lnTo>
                <a:lnTo>
                  <a:pt x="0" y="0"/>
                </a:lnTo>
                <a:close/>
              </a:path>
            </a:pathLst>
          </a:custGeom>
          <a:blipFill>
            <a:blip r:embed="rId2"/>
            <a:stretch>
              <a:fillRect b="-5562"/>
            </a:stretch>
          </a:blipFill>
        </p:spPr>
      </p:sp>
      <p:grpSp>
        <p:nvGrpSpPr>
          <p:cNvPr id="3" name="Group 3"/>
          <p:cNvGrpSpPr/>
          <p:nvPr/>
        </p:nvGrpSpPr>
        <p:grpSpPr>
          <a:xfrm>
            <a:off x="2257414" y="-27086"/>
            <a:ext cx="16030576" cy="2129975"/>
            <a:chOff x="0" y="0"/>
            <a:chExt cx="21374102" cy="2839967"/>
          </a:xfrm>
        </p:grpSpPr>
        <p:sp>
          <p:nvSpPr>
            <p:cNvPr id="4" name="Freeform 4"/>
            <p:cNvSpPr/>
            <p:nvPr/>
          </p:nvSpPr>
          <p:spPr>
            <a:xfrm>
              <a:off x="0" y="0"/>
              <a:ext cx="21374100" cy="2839883"/>
            </a:xfrm>
            <a:custGeom>
              <a:avLst/>
              <a:gdLst/>
              <a:ahLst/>
              <a:cxnLst/>
              <a:rect l="l" t="t" r="r" b="b"/>
              <a:pathLst>
                <a:path w="21374100" h="2839883">
                  <a:moveTo>
                    <a:pt x="0" y="0"/>
                  </a:moveTo>
                  <a:lnTo>
                    <a:pt x="21374100" y="0"/>
                  </a:lnTo>
                  <a:lnTo>
                    <a:pt x="21374100" y="2839883"/>
                  </a:lnTo>
                  <a:lnTo>
                    <a:pt x="0" y="2839883"/>
                  </a:lnTo>
                  <a:close/>
                </a:path>
              </a:pathLst>
            </a:custGeom>
            <a:solidFill>
              <a:srgbClr val="C00000"/>
            </a:solidFill>
          </p:spPr>
        </p:sp>
      </p:grpSp>
      <p:grpSp>
        <p:nvGrpSpPr>
          <p:cNvPr id="5" name="Group 5"/>
          <p:cNvGrpSpPr/>
          <p:nvPr/>
        </p:nvGrpSpPr>
        <p:grpSpPr>
          <a:xfrm>
            <a:off x="-5" y="9402508"/>
            <a:ext cx="18287996" cy="1768983"/>
            <a:chOff x="0" y="0"/>
            <a:chExt cx="24383994" cy="2358644"/>
          </a:xfrm>
        </p:grpSpPr>
        <p:sp>
          <p:nvSpPr>
            <p:cNvPr id="6" name="Freeform 6"/>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7" name="TextBox 7"/>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8" name="TextBox 8"/>
          <p:cNvSpPr txBox="1"/>
          <p:nvPr/>
        </p:nvSpPr>
        <p:spPr>
          <a:xfrm>
            <a:off x="698294" y="-159459"/>
            <a:ext cx="17436424" cy="2222506"/>
          </a:xfrm>
          <a:prstGeom prst="rect">
            <a:avLst/>
          </a:prstGeom>
        </p:spPr>
        <p:txBody>
          <a:bodyPr lIns="0" tIns="0" rIns="0" bIns="0" rtlCol="0" anchor="t">
            <a:spAutoFit/>
          </a:bodyPr>
          <a:lstStyle/>
          <a:p>
            <a:pPr algn="ctr">
              <a:lnSpc>
                <a:spcPts val="18199"/>
              </a:lnSpc>
            </a:pPr>
            <a:r>
              <a:rPr lang="en-US" sz="12999">
                <a:solidFill>
                  <a:srgbClr val="E6E8DA"/>
                </a:solidFill>
                <a:latin typeface="Anton"/>
                <a:ea typeface="Anton"/>
                <a:cs typeface="Anton"/>
                <a:sym typeface="Anton"/>
              </a:rPr>
              <a:t>TECHNOLOGY</a:t>
            </a:r>
          </a:p>
        </p:txBody>
      </p:sp>
      <p:sp>
        <p:nvSpPr>
          <p:cNvPr id="9" name="TextBox 9"/>
          <p:cNvSpPr txBox="1"/>
          <p:nvPr/>
        </p:nvSpPr>
        <p:spPr>
          <a:xfrm rot="-119999">
            <a:off x="3978516" y="-296811"/>
            <a:ext cx="8963663" cy="2424332"/>
          </a:xfrm>
          <a:prstGeom prst="rect">
            <a:avLst/>
          </a:prstGeom>
        </p:spPr>
        <p:txBody>
          <a:bodyPr lIns="0" tIns="0" rIns="0" bIns="0" rtlCol="0" anchor="t">
            <a:spAutoFit/>
          </a:bodyPr>
          <a:lstStyle/>
          <a:p>
            <a:pPr algn="l">
              <a:lnSpc>
                <a:spcPts val="17784"/>
              </a:lnSpc>
            </a:pPr>
            <a:r>
              <a:rPr lang="en-US" sz="12703">
                <a:solidFill>
                  <a:srgbClr val="000000"/>
                </a:solidFill>
                <a:latin typeface="Brittany"/>
                <a:ea typeface="Brittany"/>
                <a:cs typeface="Brittany"/>
                <a:sym typeface="Brittany"/>
              </a:rPr>
              <a:t>Used</a:t>
            </a:r>
          </a:p>
        </p:txBody>
      </p:sp>
      <p:grpSp>
        <p:nvGrpSpPr>
          <p:cNvPr id="10" name="Group 10"/>
          <p:cNvGrpSpPr/>
          <p:nvPr/>
        </p:nvGrpSpPr>
        <p:grpSpPr>
          <a:xfrm>
            <a:off x="804546" y="6102748"/>
            <a:ext cx="2905755" cy="2905755"/>
            <a:chOff x="0" y="0"/>
            <a:chExt cx="3874340" cy="3874340"/>
          </a:xfrm>
        </p:grpSpPr>
        <p:sp>
          <p:nvSpPr>
            <p:cNvPr id="11" name="Freeform 11"/>
            <p:cNvSpPr/>
            <p:nvPr/>
          </p:nvSpPr>
          <p:spPr>
            <a:xfrm>
              <a:off x="0" y="0"/>
              <a:ext cx="3874389" cy="3874389"/>
            </a:xfrm>
            <a:custGeom>
              <a:avLst/>
              <a:gdLst/>
              <a:ahLst/>
              <a:cxnLst/>
              <a:rect l="l" t="t" r="r" b="b"/>
              <a:pathLst>
                <a:path w="3874389" h="3874389">
                  <a:moveTo>
                    <a:pt x="0" y="0"/>
                  </a:moveTo>
                  <a:lnTo>
                    <a:pt x="3874389" y="0"/>
                  </a:lnTo>
                  <a:lnTo>
                    <a:pt x="3874389" y="3874389"/>
                  </a:lnTo>
                  <a:lnTo>
                    <a:pt x="0" y="3874389"/>
                  </a:lnTo>
                  <a:lnTo>
                    <a:pt x="0" y="0"/>
                  </a:lnTo>
                  <a:close/>
                </a:path>
              </a:pathLst>
            </a:custGeom>
            <a:blipFill>
              <a:blip r:embed="rId3"/>
              <a:stretch>
                <a:fillRect r="1" b="1"/>
              </a:stretch>
            </a:blipFill>
          </p:spPr>
        </p:sp>
      </p:grpSp>
      <p:grpSp>
        <p:nvGrpSpPr>
          <p:cNvPr id="12" name="Group 12"/>
          <p:cNvGrpSpPr/>
          <p:nvPr/>
        </p:nvGrpSpPr>
        <p:grpSpPr>
          <a:xfrm>
            <a:off x="4541582" y="6102748"/>
            <a:ext cx="2905755" cy="2905755"/>
            <a:chOff x="0" y="0"/>
            <a:chExt cx="3874340" cy="3874340"/>
          </a:xfrm>
        </p:grpSpPr>
        <p:sp>
          <p:nvSpPr>
            <p:cNvPr id="13" name="Freeform 13"/>
            <p:cNvSpPr/>
            <p:nvPr/>
          </p:nvSpPr>
          <p:spPr>
            <a:xfrm>
              <a:off x="0" y="0"/>
              <a:ext cx="3874389" cy="3874389"/>
            </a:xfrm>
            <a:custGeom>
              <a:avLst/>
              <a:gdLst/>
              <a:ahLst/>
              <a:cxnLst/>
              <a:rect l="l" t="t" r="r" b="b"/>
              <a:pathLst>
                <a:path w="3874389" h="3874389">
                  <a:moveTo>
                    <a:pt x="0" y="0"/>
                  </a:moveTo>
                  <a:lnTo>
                    <a:pt x="3874389" y="0"/>
                  </a:lnTo>
                  <a:lnTo>
                    <a:pt x="3874389" y="3874389"/>
                  </a:lnTo>
                  <a:lnTo>
                    <a:pt x="0" y="3874389"/>
                  </a:lnTo>
                  <a:lnTo>
                    <a:pt x="0" y="0"/>
                  </a:lnTo>
                  <a:close/>
                </a:path>
              </a:pathLst>
            </a:custGeom>
            <a:blipFill>
              <a:blip r:embed="rId4"/>
              <a:stretch>
                <a:fillRect r="1" b="1"/>
              </a:stretch>
            </a:blipFill>
          </p:spPr>
        </p:sp>
      </p:grpSp>
      <p:grpSp>
        <p:nvGrpSpPr>
          <p:cNvPr id="14" name="Group 14"/>
          <p:cNvGrpSpPr/>
          <p:nvPr/>
        </p:nvGrpSpPr>
        <p:grpSpPr>
          <a:xfrm>
            <a:off x="7691122" y="6102748"/>
            <a:ext cx="2905755" cy="2905755"/>
            <a:chOff x="0" y="0"/>
            <a:chExt cx="3874340" cy="3874340"/>
          </a:xfrm>
        </p:grpSpPr>
        <p:sp>
          <p:nvSpPr>
            <p:cNvPr id="15" name="Freeform 15"/>
            <p:cNvSpPr/>
            <p:nvPr/>
          </p:nvSpPr>
          <p:spPr>
            <a:xfrm>
              <a:off x="0" y="0"/>
              <a:ext cx="3874389" cy="3874389"/>
            </a:xfrm>
            <a:custGeom>
              <a:avLst/>
              <a:gdLst/>
              <a:ahLst/>
              <a:cxnLst/>
              <a:rect l="l" t="t" r="r" b="b"/>
              <a:pathLst>
                <a:path w="3874389" h="3874389">
                  <a:moveTo>
                    <a:pt x="0" y="0"/>
                  </a:moveTo>
                  <a:lnTo>
                    <a:pt x="3874389" y="0"/>
                  </a:lnTo>
                  <a:lnTo>
                    <a:pt x="3874389" y="3874389"/>
                  </a:lnTo>
                  <a:lnTo>
                    <a:pt x="0" y="3874389"/>
                  </a:lnTo>
                  <a:lnTo>
                    <a:pt x="0" y="0"/>
                  </a:lnTo>
                  <a:close/>
                </a:path>
              </a:pathLst>
            </a:custGeom>
            <a:blipFill>
              <a:blip r:embed="rId5"/>
              <a:stretch>
                <a:fillRect r="1" b="1"/>
              </a:stretch>
            </a:blipFill>
          </p:spPr>
        </p:sp>
      </p:grpSp>
      <p:grpSp>
        <p:nvGrpSpPr>
          <p:cNvPr id="16" name="Group 16"/>
          <p:cNvGrpSpPr/>
          <p:nvPr/>
        </p:nvGrpSpPr>
        <p:grpSpPr>
          <a:xfrm>
            <a:off x="11528874" y="6102748"/>
            <a:ext cx="2905755" cy="2905755"/>
            <a:chOff x="0" y="0"/>
            <a:chExt cx="3874340" cy="3874340"/>
          </a:xfrm>
        </p:grpSpPr>
        <p:sp>
          <p:nvSpPr>
            <p:cNvPr id="17" name="Freeform 17"/>
            <p:cNvSpPr/>
            <p:nvPr/>
          </p:nvSpPr>
          <p:spPr>
            <a:xfrm>
              <a:off x="0" y="0"/>
              <a:ext cx="3874389" cy="3874389"/>
            </a:xfrm>
            <a:custGeom>
              <a:avLst/>
              <a:gdLst/>
              <a:ahLst/>
              <a:cxnLst/>
              <a:rect l="l" t="t" r="r" b="b"/>
              <a:pathLst>
                <a:path w="3874389" h="3874389">
                  <a:moveTo>
                    <a:pt x="0" y="0"/>
                  </a:moveTo>
                  <a:lnTo>
                    <a:pt x="3874389" y="0"/>
                  </a:lnTo>
                  <a:lnTo>
                    <a:pt x="3874389" y="3874389"/>
                  </a:lnTo>
                  <a:lnTo>
                    <a:pt x="0" y="3874389"/>
                  </a:lnTo>
                  <a:lnTo>
                    <a:pt x="0" y="0"/>
                  </a:lnTo>
                  <a:close/>
                </a:path>
              </a:pathLst>
            </a:custGeom>
            <a:blipFill>
              <a:blip r:embed="rId6"/>
              <a:stretch>
                <a:fillRect r="1" b="1"/>
              </a:stretch>
            </a:blipFill>
          </p:spPr>
        </p:sp>
      </p:grpSp>
      <p:grpSp>
        <p:nvGrpSpPr>
          <p:cNvPr id="18" name="Group 18"/>
          <p:cNvGrpSpPr/>
          <p:nvPr/>
        </p:nvGrpSpPr>
        <p:grpSpPr>
          <a:xfrm>
            <a:off x="14848791" y="5995082"/>
            <a:ext cx="3013421" cy="3013421"/>
            <a:chOff x="0" y="0"/>
            <a:chExt cx="4017895" cy="4017895"/>
          </a:xfrm>
        </p:grpSpPr>
        <p:sp>
          <p:nvSpPr>
            <p:cNvPr id="19" name="Freeform 19"/>
            <p:cNvSpPr/>
            <p:nvPr/>
          </p:nvSpPr>
          <p:spPr>
            <a:xfrm>
              <a:off x="0" y="0"/>
              <a:ext cx="4017899" cy="4017899"/>
            </a:xfrm>
            <a:custGeom>
              <a:avLst/>
              <a:gdLst/>
              <a:ahLst/>
              <a:cxnLst/>
              <a:rect l="l" t="t" r="r" b="b"/>
              <a:pathLst>
                <a:path w="4017899" h="4017899">
                  <a:moveTo>
                    <a:pt x="0" y="0"/>
                  </a:moveTo>
                  <a:lnTo>
                    <a:pt x="4017899" y="0"/>
                  </a:lnTo>
                  <a:lnTo>
                    <a:pt x="4017899" y="4017899"/>
                  </a:lnTo>
                  <a:lnTo>
                    <a:pt x="0" y="4017899"/>
                  </a:lnTo>
                  <a:lnTo>
                    <a:pt x="0" y="0"/>
                  </a:lnTo>
                  <a:close/>
                </a:path>
              </a:pathLst>
            </a:custGeom>
            <a:blipFill>
              <a:blip r:embed="rId7"/>
              <a:stretch>
                <a:fillRect/>
              </a:stretch>
            </a:blipFill>
          </p:spPr>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8DA"/>
        </a:solidFill>
        <a:effectLst/>
      </p:bgPr>
    </p:bg>
    <p:spTree>
      <p:nvGrpSpPr>
        <p:cNvPr id="1" name=""/>
        <p:cNvGrpSpPr/>
        <p:nvPr/>
      </p:nvGrpSpPr>
      <p:grpSpPr>
        <a:xfrm>
          <a:off x="0" y="0"/>
          <a:ext cx="0" cy="0"/>
          <a:chOff x="0" y="0"/>
          <a:chExt cx="0" cy="0"/>
        </a:xfrm>
      </p:grpSpPr>
      <p:sp>
        <p:nvSpPr>
          <p:cNvPr id="2" name="Freeform 2" descr="https://galgotiacollege.edu/public/uploads/all/3106/phelosophy.jpeg"/>
          <p:cNvSpPr/>
          <p:nvPr/>
        </p:nvSpPr>
        <p:spPr>
          <a:xfrm>
            <a:off x="0" y="-24680"/>
            <a:ext cx="2257424" cy="2127569"/>
          </a:xfrm>
          <a:custGeom>
            <a:avLst/>
            <a:gdLst/>
            <a:ahLst/>
            <a:cxnLst/>
            <a:rect l="l" t="t" r="r" b="b"/>
            <a:pathLst>
              <a:path w="2257424" h="2127569">
                <a:moveTo>
                  <a:pt x="0" y="0"/>
                </a:moveTo>
                <a:lnTo>
                  <a:pt x="2257424" y="0"/>
                </a:lnTo>
                <a:lnTo>
                  <a:pt x="2257424" y="2127570"/>
                </a:lnTo>
                <a:lnTo>
                  <a:pt x="0" y="2127570"/>
                </a:lnTo>
                <a:lnTo>
                  <a:pt x="0" y="0"/>
                </a:lnTo>
                <a:close/>
              </a:path>
            </a:pathLst>
          </a:custGeom>
          <a:blipFill>
            <a:blip r:embed="rId2"/>
            <a:stretch>
              <a:fillRect b="-5562"/>
            </a:stretch>
          </a:blipFill>
        </p:spPr>
      </p:sp>
      <p:sp>
        <p:nvSpPr>
          <p:cNvPr id="3" name="TextBox 3"/>
          <p:cNvSpPr txBox="1"/>
          <p:nvPr/>
        </p:nvSpPr>
        <p:spPr>
          <a:xfrm>
            <a:off x="698294" y="-159459"/>
            <a:ext cx="17436424" cy="2222506"/>
          </a:xfrm>
          <a:prstGeom prst="rect">
            <a:avLst/>
          </a:prstGeom>
        </p:spPr>
        <p:txBody>
          <a:bodyPr lIns="0" tIns="0" rIns="0" bIns="0" rtlCol="0" anchor="t">
            <a:spAutoFit/>
          </a:bodyPr>
          <a:lstStyle/>
          <a:p>
            <a:pPr algn="ctr">
              <a:lnSpc>
                <a:spcPts val="18199"/>
              </a:lnSpc>
            </a:pPr>
            <a:r>
              <a:rPr lang="en-US" sz="12999">
                <a:solidFill>
                  <a:srgbClr val="E6E8DA"/>
                </a:solidFill>
                <a:latin typeface="Anton"/>
                <a:ea typeface="Anton"/>
                <a:cs typeface="Anton"/>
                <a:sym typeface="Anton"/>
              </a:rPr>
              <a:t>TECHNOLOGY</a:t>
            </a:r>
          </a:p>
        </p:txBody>
      </p:sp>
      <p:grpSp>
        <p:nvGrpSpPr>
          <p:cNvPr id="4" name="Group 4"/>
          <p:cNvGrpSpPr/>
          <p:nvPr/>
        </p:nvGrpSpPr>
        <p:grpSpPr>
          <a:xfrm>
            <a:off x="2257414" y="-27086"/>
            <a:ext cx="16030576" cy="2129975"/>
            <a:chOff x="0" y="0"/>
            <a:chExt cx="21374102" cy="2839967"/>
          </a:xfrm>
        </p:grpSpPr>
        <p:sp>
          <p:nvSpPr>
            <p:cNvPr id="5" name="Freeform 5"/>
            <p:cNvSpPr/>
            <p:nvPr/>
          </p:nvSpPr>
          <p:spPr>
            <a:xfrm>
              <a:off x="0" y="0"/>
              <a:ext cx="21374100" cy="2839883"/>
            </a:xfrm>
            <a:custGeom>
              <a:avLst/>
              <a:gdLst/>
              <a:ahLst/>
              <a:cxnLst/>
              <a:rect l="l" t="t" r="r" b="b"/>
              <a:pathLst>
                <a:path w="21374100" h="2839883">
                  <a:moveTo>
                    <a:pt x="0" y="0"/>
                  </a:moveTo>
                  <a:lnTo>
                    <a:pt x="21374100" y="0"/>
                  </a:lnTo>
                  <a:lnTo>
                    <a:pt x="21374100" y="2839883"/>
                  </a:lnTo>
                  <a:lnTo>
                    <a:pt x="0" y="2839883"/>
                  </a:lnTo>
                  <a:close/>
                </a:path>
              </a:pathLst>
            </a:custGeom>
            <a:solidFill>
              <a:srgbClr val="C00000"/>
            </a:solidFill>
          </p:spPr>
        </p:sp>
      </p:grpSp>
      <p:grpSp>
        <p:nvGrpSpPr>
          <p:cNvPr id="6" name="Group 6"/>
          <p:cNvGrpSpPr/>
          <p:nvPr/>
        </p:nvGrpSpPr>
        <p:grpSpPr>
          <a:xfrm>
            <a:off x="-5" y="9402508"/>
            <a:ext cx="18287996" cy="1768983"/>
            <a:chOff x="0" y="0"/>
            <a:chExt cx="24383994" cy="2358644"/>
          </a:xfrm>
        </p:grpSpPr>
        <p:sp>
          <p:nvSpPr>
            <p:cNvPr id="7" name="Freeform 7"/>
            <p:cNvSpPr/>
            <p:nvPr/>
          </p:nvSpPr>
          <p:spPr>
            <a:xfrm>
              <a:off x="0" y="0"/>
              <a:ext cx="24384000" cy="2358541"/>
            </a:xfrm>
            <a:custGeom>
              <a:avLst/>
              <a:gdLst/>
              <a:ahLst/>
              <a:cxnLst/>
              <a:rect l="l" t="t" r="r" b="b"/>
              <a:pathLst>
                <a:path w="24384000" h="2358541">
                  <a:moveTo>
                    <a:pt x="0" y="0"/>
                  </a:moveTo>
                  <a:lnTo>
                    <a:pt x="24384000" y="0"/>
                  </a:lnTo>
                  <a:lnTo>
                    <a:pt x="24384000" y="2358541"/>
                  </a:lnTo>
                  <a:lnTo>
                    <a:pt x="0" y="2358541"/>
                  </a:lnTo>
                  <a:close/>
                </a:path>
              </a:pathLst>
            </a:custGeom>
            <a:solidFill>
              <a:srgbClr val="C00000"/>
            </a:solidFill>
          </p:spPr>
        </p:sp>
        <p:sp>
          <p:nvSpPr>
            <p:cNvPr id="8" name="TextBox 8"/>
            <p:cNvSpPr txBox="1"/>
            <p:nvPr/>
          </p:nvSpPr>
          <p:spPr>
            <a:xfrm>
              <a:off x="0" y="47625"/>
              <a:ext cx="24383994" cy="2311019"/>
            </a:xfrm>
            <a:prstGeom prst="rect">
              <a:avLst/>
            </a:prstGeom>
          </p:spPr>
          <p:txBody>
            <a:bodyPr lIns="50800" tIns="50800" rIns="50800" bIns="50800" rtlCol="0" anchor="t"/>
            <a:lstStyle/>
            <a:p>
              <a:pPr algn="l">
                <a:lnSpc>
                  <a:spcPts val="3888"/>
                </a:lnSpc>
              </a:pPr>
              <a:r>
                <a:rPr lang="en-US" sz="3600" b="1" spc="33">
                  <a:solidFill>
                    <a:srgbClr val="FFFFFF"/>
                  </a:solidFill>
                  <a:latin typeface="TT Rounds Condensed Bold"/>
                  <a:ea typeface="TT Rounds Condensed Bold"/>
                  <a:cs typeface="TT Rounds Condensed Bold"/>
                  <a:sym typeface="TT Rounds Condensed Bold"/>
                </a:rPr>
                <a:t>          		Mini Project (BCS-351)                                                       ODD Semester 2024-25</a:t>
              </a: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a:p>
              <a:pPr algn="l">
                <a:lnSpc>
                  <a:spcPts val="3888"/>
                </a:lnSpc>
              </a:pPr>
              <a:endParaRPr lang="en-US" sz="3600" b="1" spc="33">
                <a:solidFill>
                  <a:srgbClr val="FFFFFF"/>
                </a:solidFill>
                <a:latin typeface="TT Rounds Condensed Bold"/>
                <a:ea typeface="TT Rounds Condensed Bold"/>
                <a:cs typeface="TT Rounds Condensed Bold"/>
                <a:sym typeface="TT Rounds Condensed Bold"/>
              </a:endParaRPr>
            </a:p>
          </p:txBody>
        </p:sp>
      </p:grpSp>
      <p:sp>
        <p:nvSpPr>
          <p:cNvPr id="9" name="TextBox 9"/>
          <p:cNvSpPr txBox="1"/>
          <p:nvPr/>
        </p:nvSpPr>
        <p:spPr>
          <a:xfrm>
            <a:off x="425781" y="1531390"/>
            <a:ext cx="17436424" cy="5706109"/>
          </a:xfrm>
          <a:prstGeom prst="rect">
            <a:avLst/>
          </a:prstGeom>
        </p:spPr>
        <p:txBody>
          <a:bodyPr lIns="0" tIns="0" rIns="0" bIns="0" rtlCol="0" anchor="t">
            <a:spAutoFit/>
          </a:bodyPr>
          <a:lstStyle/>
          <a:p>
            <a:pPr algn="ctr">
              <a:lnSpc>
                <a:spcPts val="41965"/>
              </a:lnSpc>
            </a:pPr>
            <a:r>
              <a:rPr lang="en-US" sz="29975">
                <a:solidFill>
                  <a:srgbClr val="000000"/>
                </a:solidFill>
                <a:latin typeface="Anton"/>
                <a:ea typeface="Anton"/>
                <a:cs typeface="Anton"/>
                <a:sym typeface="Anton"/>
              </a:rPr>
              <a:t>THANK YOU!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1243</Words>
  <Application>Microsoft Office PowerPoint</Application>
  <PresentationFormat>Custom</PresentationFormat>
  <Paragraphs>125</Paragraphs>
  <Slides>14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TT Rounds Condensed</vt:lpstr>
      <vt:lpstr>Lazydog</vt:lpstr>
      <vt:lpstr>Brittany</vt:lpstr>
      <vt:lpstr>Comic Sans Bold</vt:lpstr>
      <vt:lpstr>Calibri</vt:lpstr>
      <vt:lpstr>Times New Roman Bold</vt:lpstr>
      <vt:lpstr>Anton</vt:lpstr>
      <vt:lpstr>Rosario</vt:lpstr>
      <vt:lpstr>Canva Sans</vt:lpstr>
      <vt:lpstr>TT Rounds Condensed Bold</vt:lpstr>
      <vt:lpstr>Arial</vt:lpstr>
      <vt:lpstr>Arimo Bold</vt:lpstr>
      <vt:lpstr>Comic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format Template.pptx</dc:title>
  <dc:creator>akash kumar</dc:creator>
  <cp:lastModifiedBy>akash kumar</cp:lastModifiedBy>
  <cp:revision>5</cp:revision>
  <dcterms:created xsi:type="dcterms:W3CDTF">2006-08-16T00:00:00Z</dcterms:created>
  <dcterms:modified xsi:type="dcterms:W3CDTF">2025-01-02T09:25:31Z</dcterms:modified>
  <dc:identifier>DAGa9CAC5NI</dc:identifier>
</cp:coreProperties>
</file>